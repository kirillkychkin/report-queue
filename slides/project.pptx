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Начать с того, что демо не «игрушечное»: задача действительно долгая, действительно пишет файлы и действительно требует прогресса.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воркеры только в Docker — RQ использует fork (нет на Windows), Celery prefork на Windows нестабилен. Это зафиксированное архитектурное ограничение, а не лень.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спросят «зачем абстракция, это же оверинжиниринг»: без неё сравнение Celery и RQ было бы сравнением двух разных приложений, а не двух очередей.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важен: сначала «работает», потом «масштабируется», потом «не теряет», и только в конце — «а вот как это устроено без фреймворка».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Оркестратор bench/run_matrix.py сам поднимает нужное число воркеров через docker compose --scale, чистит очередь и ждёт живых воркеров перед каждым прогоном.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методическое решение: timestamps пишет сама задача в общий Redis-список, поэтому метрики одинаковы для всех фреймворков и не зависят от их result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— заготовка под вопрос «а что бы вы поменяли для продакшена»: реестр заказов в БД, S3, SSE, outbox.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Закончить на том, что проект собирается и запускается одной командой, а все решения задокументированы в docs/architecture.md по шаблону «решение / почему / альтернативы / где не работает».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97480"/>
          </a:xfrm>
          <a:prstGeom prst="rect">
            <a:avLst/>
          </a:prstGeom>
          <a:solidFill>
            <a:srgbClr val="12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91695" cy="762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Segoe UI"/>
              </a:rPr>
              <a:t>report-queue: демонстрация проекта</a:t>
            </a:r>
          </a:p>
          <a:p>
            <a:pPr>
              <a:spcBef>
                <a:spcPts val="1000"/>
              </a:spcBef>
            </a:pPr>
            <a:r>
              <a:rPr sz="1900" b="0">
                <a:solidFill>
                  <a:srgbClr val="C3D4F5"/>
                </a:solidFill>
                <a:latin typeface="Segoe UI"/>
              </a:rPr>
              <a:t>Асинхронная генерация отчётов на Celery / RQ поверх Redis / RabbitMQ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5B6B7C"/>
                </a:solidFill>
                <a:latin typeface="Segoe UI"/>
              </a:rPr>
              <a:t>Дисциплина:  </a:t>
            </a:r>
            <a:r>
              <a:rPr sz="1700" b="0">
                <a:solidFill>
                  <a:srgbClr val="1B2738"/>
                </a:solidFill>
                <a:latin typeface="Segoe UI"/>
              </a:rPr>
              <a:t>Разработка приложений на Python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B6B7C"/>
                </a:solidFill>
                <a:latin typeface="Segoe UI"/>
              </a:rPr>
              <a:t>Докладчик:  </a:t>
            </a:r>
            <a:r>
              <a:rPr sz="1700" b="1">
                <a:solidFill>
                  <a:srgbClr val="1B2738"/>
                </a:solidFill>
                <a:latin typeface="Segoe UI"/>
              </a:rPr>
              <a:t>Кычкин Кирилл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B6B7C"/>
                </a:solidFill>
                <a:latin typeface="Segoe UI"/>
              </a:rPr>
              <a:t>Репозиторий:  </a:t>
            </a:r>
            <a:r>
              <a:rPr sz="1700" b="0">
                <a:solidFill>
                  <a:srgbClr val="1B2738"/>
                </a:solidFill>
                <a:latin typeface="Consolas"/>
              </a:rPr>
              <a:t>github.com/kirillkychkin/report-queue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B6B7C"/>
                </a:solidFill>
                <a:latin typeface="Segoe UI"/>
              </a:rPr>
              <a:t>Дата:  </a:t>
            </a:r>
            <a:r>
              <a:rPr sz="1700" b="0">
                <a:solidFill>
                  <a:srgbClr val="1B2738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Задача и домен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Заказ отчёта, который нельзя сделать внутри HTTP-запроса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78583"/>
            <a:ext cx="11057839" cy="2302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Домен</a:t>
            </a:r>
            <a:r>
              <a:rPr sz="1650" b="0">
                <a:solidFill>
                  <a:srgbClr val="1B2738"/>
                </a:solidFill>
                <a:latin typeface="Segoe UI"/>
              </a:rPr>
              <a:t>: генерация отчёта по продажам — синтетические данные (pandas) → агрегация по периоду / региону / категории → три артефакта: </a:t>
            </a:r>
            <a:r>
              <a:rPr sz="1550" b="0">
                <a:solidFill>
                  <a:srgbClr val="E8590C"/>
                </a:solidFill>
                <a:latin typeface="Consolas"/>
              </a:rPr>
              <a:t>summary.csv</a:t>
            </a:r>
            <a:r>
              <a:rPr sz="1650" b="0">
                <a:solidFill>
                  <a:srgbClr val="1B2738"/>
                </a:solidFill>
                <a:latin typeface="Segoe UI"/>
              </a:rPr>
              <a:t>, </a:t>
            </a:r>
            <a:r>
              <a:rPr sz="1550" b="0">
                <a:solidFill>
                  <a:srgbClr val="E8590C"/>
                </a:solidFill>
                <a:latin typeface="Consolas"/>
              </a:rPr>
              <a:t>chart.png</a:t>
            </a:r>
            <a:r>
              <a:rPr sz="1650" b="0">
                <a:solidFill>
                  <a:srgbClr val="1B2738"/>
                </a:solidFill>
                <a:latin typeface="Segoe UI"/>
              </a:rPr>
              <a:t> (matplotlib), </a:t>
            </a:r>
            <a:r>
              <a:rPr sz="1550" b="0">
                <a:solidFill>
                  <a:srgbClr val="E8590C"/>
                </a:solidFill>
                <a:latin typeface="Consolas"/>
              </a:rPr>
              <a:t>report.pdf</a:t>
            </a:r>
            <a:r>
              <a:rPr sz="1650" b="0">
                <a:solidFill>
                  <a:srgbClr val="1B2738"/>
                </a:solidFill>
                <a:latin typeface="Segoe UI"/>
              </a:rPr>
              <a:t>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Почему домен именно такой</a:t>
            </a:r>
            <a:r>
              <a:rPr sz="1650" b="0">
                <a:solidFill>
                  <a:srgbClr val="1B2738"/>
                </a:solidFill>
                <a:latin typeface="Segoe UI"/>
              </a:rPr>
              <a:t>: работа реально нагружает CPU (0,4–3 с на 10 000–200 000 строк), даёт файлы на выходе и прогресс по шагам — то, ради чего очередь и нужна.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Сценарий</a:t>
            </a:r>
            <a:r>
              <a:rPr sz="1650" b="0">
                <a:solidFill>
                  <a:srgbClr val="1B2738"/>
                </a:solidFill>
                <a:latin typeface="Segoe UI"/>
              </a:rPr>
              <a:t>: </a:t>
            </a:r>
            <a:r>
              <a:rPr sz="1550" b="0">
                <a:solidFill>
                  <a:srgbClr val="E8590C"/>
                </a:solidFill>
                <a:latin typeface="Consolas"/>
              </a:rPr>
              <a:t>POST /reports</a:t>
            </a:r>
            <a:r>
              <a:rPr sz="1650" b="0">
                <a:solidFill>
                  <a:srgbClr val="1B2738"/>
                </a:solidFill>
                <a:latin typeface="Segoe UI"/>
              </a:rPr>
              <a:t> → </a:t>
            </a:r>
            <a:r>
              <a:rPr sz="1550" b="0">
                <a:solidFill>
                  <a:srgbClr val="E8590C"/>
                </a:solidFill>
                <a:latin typeface="Consolas"/>
              </a:rPr>
              <a:t>202 {id}</a:t>
            </a:r>
            <a:r>
              <a:rPr sz="1650" b="0">
                <a:solidFill>
                  <a:srgbClr val="1B2738"/>
                </a:solidFill>
                <a:latin typeface="Segoe UI"/>
              </a:rPr>
              <a:t> → генерация в воркере → </a:t>
            </a:r>
            <a:r>
              <a:rPr sz="1550" b="0">
                <a:solidFill>
                  <a:srgbClr val="E8590C"/>
                </a:solidFill>
                <a:latin typeface="Consolas"/>
              </a:rPr>
              <a:t>GET /reports/{id}</a:t>
            </a:r>
            <a:r>
              <a:rPr sz="1650" b="0">
                <a:solidFill>
                  <a:srgbClr val="1B2738"/>
                </a:solidFill>
                <a:latin typeface="Segoe UI"/>
              </a:rPr>
              <a:t> (статус + прогресс) → </a:t>
            </a:r>
            <a:r>
              <a:rPr sz="1550" b="0">
                <a:solidFill>
                  <a:srgbClr val="E8590C"/>
                </a:solidFill>
                <a:latin typeface="Consolas"/>
              </a:rPr>
              <a:t>GET /reports/{id}/download?format=csv|png|pdf</a:t>
            </a:r>
            <a:r>
              <a:rPr sz="1650" b="0">
                <a:solidFill>
                  <a:srgbClr val="1B2738"/>
                </a:solidFill>
                <a:latin typeface="Segoe UI"/>
              </a:rPr>
              <a:t>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Что специально не делал</a:t>
            </a:r>
            <a:r>
              <a:rPr sz="1650" b="0">
                <a:solidFill>
                  <a:srgbClr val="1B2738"/>
                </a:solidFill>
                <a:latin typeface="Segoe UI"/>
              </a:rPr>
              <a:t>: базу данных, авторизацию, вебсокеты — они не относятся к теме и раздули бы демо.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790312"/>
            <a:ext cx="11057839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790312"/>
            <a:ext cx="63500" cy="8229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918328"/>
            <a:ext cx="106006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B2738"/>
                </a:solidFill>
                <a:latin typeface="Segoe UI"/>
              </a:rPr>
              <a:t>Одна и та же доменная функция </a:t>
            </a:r>
            <a:r>
              <a:rPr sz="1500" b="0">
                <a:solidFill>
                  <a:srgbClr val="E8590C"/>
                </a:solidFill>
                <a:latin typeface="Consolas"/>
              </a:rPr>
              <a:t>generate_report()</a:t>
            </a:r>
            <a:r>
              <a:rPr sz="1600" b="0">
                <a:solidFill>
                  <a:srgbClr val="1B2738"/>
                </a:solidFill>
                <a:latin typeface="Segoe UI"/>
              </a:rPr>
              <a:t> выполняется четырьмя способами: Celery+Redis, Celery+RabbitMQ, RQ, и вообще без фреймворка (голый pika).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report-queue — демонстрация проекта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Архитектура и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Три слоя, ни один не знает о соседях больше необходимого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026920"/>
          <a:ext cx="11057837" cy="1633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671"/>
                <a:gridCol w="1861220"/>
                <a:gridCol w="3503473"/>
                <a:gridCol w="3503473"/>
              </a:tblGrid>
              <a:tr h="40843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Слой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Пакет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Знает о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Не знает о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Домен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590C"/>
                          </a:solidFill>
                          <a:latin typeface="Consolas"/>
                        </a:rPr>
                        <a:t>app/reports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pandas, matplotlib, файлы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очередях, Celery, RQ, HTTP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Адаптеры задач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590C"/>
                          </a:solidFill>
                          <a:latin typeface="Consolas"/>
                        </a:rPr>
                        <a:t>app/tasks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Celery, RQ, pika, брокерах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HTTP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40843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API и UI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590C"/>
                          </a:solidFill>
                          <a:latin typeface="Consolas"/>
                        </a:rPr>
                        <a:t>app/api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HTTP, протокол </a:t>
                      </a:r>
                      <a:r>
                        <a:rPr sz="1300" b="0">
                          <a:solidFill>
                            <a:srgbClr val="E8590C"/>
                          </a:solidFill>
                          <a:latin typeface="Consolas"/>
                        </a:rPr>
                        <a:t>TaskBackend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738"/>
                          </a:solidFill>
                          <a:latin typeface="Segoe UI"/>
                        </a:rPr>
                        <a:t>какой фреймворк внизу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934968"/>
            <a:ext cx="11057839" cy="2084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800" b="1">
                <a:solidFill>
                  <a:srgbClr val="1B2738"/>
                </a:solidFill>
                <a:latin typeface="Segoe UI"/>
              </a:rPr>
              <a:t>Стек</a:t>
            </a:r>
            <a:r>
              <a:rPr sz="1800" b="0">
                <a:solidFill>
                  <a:srgbClr val="1B2738"/>
                </a:solidFill>
                <a:latin typeface="Segoe UI"/>
              </a:rPr>
              <a:t>: FastAPI + uvicorn, Celery 5.6 (+ Flower, beat), RQ 2.12, Redis 7, RabbitMQ 3.13, pandas 3.0 + matplotlib (backend Agg), pydantic-settings.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800" b="1">
                <a:solidFill>
                  <a:srgbClr val="1B2738"/>
                </a:solidFill>
                <a:latin typeface="Segoe UI"/>
              </a:rPr>
              <a:t>Инфраструктура</a:t>
            </a:r>
            <a:r>
              <a:rPr sz="1800" b="0">
                <a:solidFill>
                  <a:srgbClr val="1B2738"/>
                </a:solidFill>
                <a:latin typeface="Segoe UI"/>
              </a:rPr>
              <a:t>: </a:t>
            </a:r>
            <a:r>
              <a:rPr sz="1700" b="0">
                <a:solidFill>
                  <a:srgbClr val="E8590C"/>
                </a:solidFill>
                <a:latin typeface="Consolas"/>
              </a:rPr>
              <a:t>docker compose up --build</a:t>
            </a:r>
            <a:r>
              <a:rPr sz="1800" b="0">
                <a:solidFill>
                  <a:srgbClr val="1B2738"/>
                </a:solidFill>
                <a:latin typeface="Segoe UI"/>
              </a:rPr>
              <a:t> поднимает redis, rabbitmq, api (</a:t>
            </a:r>
            <a:r>
              <a:rPr sz="1700" b="0">
                <a:solidFill>
                  <a:srgbClr val="E8590C"/>
                </a:solidFill>
                <a:latin typeface="Consolas"/>
              </a:rPr>
              <a:t>:8000</a:t>
            </a:r>
            <a:r>
              <a:rPr sz="1800" b="0">
                <a:solidFill>
                  <a:srgbClr val="1B2738"/>
                </a:solidFill>
                <a:latin typeface="Segoe UI"/>
              </a:rPr>
              <a:t>), worker-celery, worker-rq, beat, flower (</a:t>
            </a:r>
            <a:r>
              <a:rPr sz="1700" b="0">
                <a:solidFill>
                  <a:srgbClr val="E8590C"/>
                </a:solidFill>
                <a:latin typeface="Consolas"/>
              </a:rPr>
              <a:t>:5555</a:t>
            </a:r>
            <a:r>
              <a:rPr sz="1800" b="0">
                <a:solidFill>
                  <a:srgbClr val="1B2738"/>
                </a:solidFill>
                <a:latin typeface="Segoe UI"/>
              </a:rPr>
              <a:t>). Один образ на все сервисы приложения.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800" b="1">
                <a:solidFill>
                  <a:srgbClr val="1B2738"/>
                </a:solidFill>
                <a:latin typeface="Segoe UI"/>
              </a:rPr>
              <a:t>Артефакты</a:t>
            </a:r>
            <a:r>
              <a:rPr sz="1800" b="0">
                <a:solidFill>
                  <a:srgbClr val="1B2738"/>
                </a:solidFill>
                <a:latin typeface="Segoe UI"/>
              </a:rPr>
              <a:t> — на общем volume, в result backend только имена файлов: сообщение и результат остаются маленькими.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report-queue — демонстрация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Ключевые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Каждое — с ценой, которую я готов назвать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51634"/>
          <a:ext cx="11057838" cy="306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539"/>
                <a:gridCol w="4410711"/>
                <a:gridCol w="4348588"/>
              </a:tblGrid>
              <a:tr h="3581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Решение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Почему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Цена / где не работает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Абстракция </a:t>
                      </a:r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TaskBackend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API не зависит от фреймворка → честное сравнение и замена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canvas и </a:t>
                      </a:r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depends_on</a:t>
                      </a:r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 доступны только внутри адаптеров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task_id = report_id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статус по своему id без таблицы «заказ → задача», идемпотентность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Celery не отличает «нет заказа» от «в очереди» (оба </a:t>
                      </a:r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PENDING</a:t>
                      </a:r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acks_late=True</a:t>
                      </a:r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, </a:t>
                      </a:r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prefetch=1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падение воркера не теряет заказ, честное распределение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at-least-once → нужна идемпотентность; медленнее на микрозадачах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Очереди </a:t>
                      </a:r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reports</a:t>
                      </a:r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 / </a:t>
                      </a:r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notifications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CPU-задачи не задерживают быстрые уведомления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больше воркеров и конфигурации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Результат — файлы, не payload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брокер — транспорт, а не хранилище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нужен общий volume, в кластере — S3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Только JSON-сериализация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8590C"/>
                          </a:solidFill>
                          <a:latin typeface="Consolas"/>
                        </a:rPr>
                        <a:t>pickle</a:t>
                      </a:r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 = выполнение произвольного кода при доступе к брокеру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738"/>
                          </a:solidFill>
                          <a:latin typeface="Segoe UI"/>
                        </a:rPr>
                        <a:t>аргументы только простых типов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286146"/>
            <a:ext cx="11057839" cy="754075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05018"/>
            <a:ext cx="10728655" cy="754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8">
                <a:solidFill>
                  <a:srgbClr val="1B2738"/>
                </a:solidFill>
                <a:latin typeface="Consolas"/>
              </a:rPr>
              <a:t>class TaskBackend(Protocol):</a:t>
            </a:r>
          </a:p>
          <a:p>
            <a:r>
              <a:rPr sz="968">
                <a:solidFill>
                  <a:srgbClr val="1B2738"/>
                </a:solidFill>
                <a:latin typeface="Consolas"/>
              </a:rPr>
              <a:t>    def enqueue_report(self, report_id: str, params: ReportParams) -&gt; str: ...</a:t>
            </a:r>
          </a:p>
          <a:p>
            <a:r>
              <a:rPr sz="968">
                <a:solidFill>
                  <a:srgbClr val="1B2738"/>
                </a:solidFill>
                <a:latin typeface="Consolas"/>
              </a:rPr>
              <a:t>    def get_status(self, report_id: str) -&gt; ReportStatus: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report-queue — демонстрация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Что покажу за 5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Сценарий демонстрации (</a:t>
            </a:r>
            <a:r>
              <a:rPr sz="1400" b="0">
                <a:solidFill>
                  <a:srgbClr val="E8590C"/>
                </a:solidFill>
                <a:latin typeface="Consolas"/>
              </a:rPr>
              <a:t>docs/demo.md</a:t>
            </a:r>
            <a:r>
              <a:rPr sz="1500" b="0">
                <a:solidFill>
                  <a:srgbClr val="5B6B7C"/>
                </a:solidFill>
                <a:latin typeface="Segoe U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66010"/>
            <a:ext cx="11057839" cy="3314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Старт</a:t>
            </a:r>
            <a:r>
              <a:rPr sz="1500" b="0">
                <a:solidFill>
                  <a:srgbClr val="1B2738"/>
                </a:solidFill>
                <a:latin typeface="Segoe UI"/>
              </a:rPr>
              <a:t>: </a:t>
            </a:r>
            <a:r>
              <a:rPr sz="1400" b="0">
                <a:solidFill>
                  <a:srgbClr val="E8590C"/>
                </a:solidFill>
                <a:latin typeface="Consolas"/>
              </a:rPr>
              <a:t>docker compose up -d --build</a:t>
            </a:r>
            <a:r>
              <a:rPr sz="1500" b="0">
                <a:solidFill>
                  <a:srgbClr val="1B2738"/>
                </a:solidFill>
                <a:latin typeface="Segoe UI"/>
              </a:rPr>
              <a:t> → </a:t>
            </a:r>
            <a:r>
              <a:rPr sz="1400" b="0">
                <a:solidFill>
                  <a:srgbClr val="E8590C"/>
                </a:solidFill>
                <a:latin typeface="Consolas"/>
              </a:rPr>
              <a:t>docker compose ps</a:t>
            </a:r>
            <a:r>
              <a:rPr sz="1500" b="0">
                <a:solidFill>
                  <a:srgbClr val="1B2738"/>
                </a:solidFill>
                <a:latin typeface="Segoe UI"/>
              </a:rPr>
              <a:t> (7 сервисов), </a:t>
            </a:r>
            <a:r>
              <a:rPr sz="1400" b="0">
                <a:solidFill>
                  <a:srgbClr val="E8590C"/>
                </a:solidFill>
                <a:latin typeface="Consolas"/>
              </a:rPr>
              <a:t>GET /health</a:t>
            </a:r>
            <a:r>
              <a:rPr sz="1500" b="0">
                <a:solidFill>
                  <a:srgbClr val="1B2738"/>
                </a:solidFill>
                <a:latin typeface="Segoe UI"/>
              </a:rPr>
              <a:t> — пинг брокера.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Заказ отчёта</a:t>
            </a:r>
            <a:r>
              <a:rPr sz="1500" b="0">
                <a:solidFill>
                  <a:srgbClr val="1B2738"/>
                </a:solidFill>
                <a:latin typeface="Segoe UI"/>
              </a:rPr>
              <a:t> в UI (</a:t>
            </a:r>
            <a:r>
              <a:rPr sz="1400" b="0">
                <a:solidFill>
                  <a:srgbClr val="E8590C"/>
                </a:solidFill>
                <a:latin typeface="Consolas"/>
              </a:rPr>
              <a:t>http://localhost:8000</a:t>
            </a:r>
            <a:r>
              <a:rPr sz="1500" b="0">
                <a:solidFill>
                  <a:srgbClr val="1B2738"/>
                </a:solidFill>
                <a:latin typeface="Segoe UI"/>
              </a:rPr>
              <a:t>): параметры → </a:t>
            </a:r>
            <a:r>
              <a:rPr sz="1400" b="0">
                <a:solidFill>
                  <a:srgbClr val="E8590C"/>
                </a:solidFill>
                <a:latin typeface="Consolas"/>
              </a:rPr>
              <a:t>202 {id}</a:t>
            </a:r>
            <a:r>
              <a:rPr sz="1500" b="0">
                <a:solidFill>
                  <a:srgbClr val="1B2738"/>
                </a:solidFill>
                <a:latin typeface="Segoe UI"/>
              </a:rPr>
              <a:t> → прогресс 20 → 100 % через polling → скачивание CSV / PNG / PDF.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Распределённая обработка</a:t>
            </a:r>
            <a:r>
              <a:rPr sz="1500" b="0">
                <a:solidFill>
                  <a:srgbClr val="1B2738"/>
                </a:solidFill>
                <a:latin typeface="Segoe UI"/>
              </a:rPr>
              <a:t>: </a:t>
            </a:r>
            <a:r>
              <a:rPr sz="1400" b="0">
                <a:solidFill>
                  <a:srgbClr val="E8590C"/>
                </a:solidFill>
                <a:latin typeface="Consolas"/>
              </a:rPr>
              <a:t>docker compose up -d --scale worker-celery=3</a:t>
            </a:r>
            <a:r>
              <a:rPr sz="1500" b="0">
                <a:solidFill>
                  <a:srgbClr val="1B2738"/>
                </a:solidFill>
                <a:latin typeface="Segoe UI"/>
              </a:rPr>
              <a:t>, пакет из 9 отчётов — во Flower видно, как задачи расходятся по трём воркерам.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Надёжность</a:t>
            </a:r>
            <a:r>
              <a:rPr sz="1500" b="0">
                <a:solidFill>
                  <a:srgbClr val="1B2738"/>
                </a:solidFill>
                <a:latin typeface="Segoe UI"/>
              </a:rPr>
              <a:t>: </a:t>
            </a:r>
            <a:r>
              <a:rPr sz="1400" b="0">
                <a:solidFill>
                  <a:srgbClr val="E8590C"/>
                </a:solidFill>
                <a:latin typeface="Consolas"/>
              </a:rPr>
              <a:t>NOTIFY_FAILURE_RATE=0.7</a:t>
            </a:r>
            <a:r>
              <a:rPr sz="1500" b="0">
                <a:solidFill>
                  <a:srgbClr val="1B2738"/>
                </a:solidFill>
                <a:latin typeface="Segoe UI"/>
              </a:rPr>
              <a:t> — в логах видны повторы с экспоненциальным backoff; убитый воркер (</a:t>
            </a:r>
            <a:r>
              <a:rPr sz="1400" b="0">
                <a:solidFill>
                  <a:srgbClr val="E8590C"/>
                </a:solidFill>
                <a:latin typeface="Consolas"/>
              </a:rPr>
              <a:t>docker kill</a:t>
            </a:r>
            <a:r>
              <a:rPr sz="1500" b="0">
                <a:solidFill>
                  <a:srgbClr val="1B2738"/>
                </a:solidFill>
                <a:latin typeface="Segoe UI"/>
              </a:rPr>
              <a:t>) не теряет задачу — она уходит другому (</a:t>
            </a:r>
            <a:r>
              <a:rPr sz="1400" b="0">
                <a:solidFill>
                  <a:srgbClr val="E8590C"/>
                </a:solidFill>
                <a:latin typeface="Consolas"/>
              </a:rPr>
              <a:t>acks_late</a:t>
            </a:r>
            <a:r>
              <a:rPr sz="1500" b="0">
                <a:solidFill>
                  <a:srgbClr val="1B2738"/>
                </a:solidFill>
                <a:latin typeface="Segoe UI"/>
              </a:rPr>
              <a:t>).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Смена фреймворка</a:t>
            </a:r>
            <a:r>
              <a:rPr sz="1500" b="0">
                <a:solidFill>
                  <a:srgbClr val="1B2738"/>
                </a:solidFill>
                <a:latin typeface="Segoe UI"/>
              </a:rPr>
              <a:t>: </a:t>
            </a:r>
            <a:r>
              <a:rPr sz="1400" b="0">
                <a:solidFill>
                  <a:srgbClr val="E8590C"/>
                </a:solidFill>
                <a:latin typeface="Consolas"/>
              </a:rPr>
              <a:t>TASK_BACKEND=rq</a:t>
            </a:r>
            <a:r>
              <a:rPr sz="1500" b="0">
                <a:solidFill>
                  <a:srgbClr val="1B2738"/>
                </a:solidFill>
                <a:latin typeface="Segoe UI"/>
              </a:rPr>
              <a:t> в </a:t>
            </a:r>
            <a:r>
              <a:rPr sz="1400" b="0">
                <a:solidFill>
                  <a:srgbClr val="E8590C"/>
                </a:solidFill>
                <a:latin typeface="Consolas"/>
              </a:rPr>
              <a:t>.env</a:t>
            </a:r>
            <a:r>
              <a:rPr sz="1500" b="0">
                <a:solidFill>
                  <a:srgbClr val="1B2738"/>
                </a:solidFill>
                <a:latin typeface="Segoe UI"/>
              </a:rPr>
              <a:t> → </a:t>
            </a:r>
            <a:r>
              <a:rPr sz="1400" b="0">
                <a:solidFill>
                  <a:srgbClr val="E8590C"/>
                </a:solidFill>
                <a:latin typeface="Consolas"/>
              </a:rPr>
              <a:t>docker compose up -d api</a:t>
            </a:r>
            <a:r>
              <a:rPr sz="1500" b="0">
                <a:solidFill>
                  <a:srgbClr val="1B2738"/>
                </a:solidFill>
                <a:latin typeface="Segoe UI"/>
              </a:rPr>
              <a:t> → тот же UI, тот же результат, другой исполнитель.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Под капотом</a:t>
            </a:r>
            <a:r>
              <a:rPr sz="1500" b="0">
                <a:solidFill>
                  <a:srgbClr val="1B2738"/>
                </a:solidFill>
                <a:latin typeface="Segoe UI"/>
              </a:rPr>
              <a:t>: </a:t>
            </a:r>
            <a:r>
              <a:rPr sz="1400" b="0">
                <a:solidFill>
                  <a:srgbClr val="E8590C"/>
                </a:solidFill>
                <a:latin typeface="Consolas"/>
              </a:rPr>
              <a:t>python -m app.tasks.raw_amqp produce 6</a:t>
            </a:r>
            <a:r>
              <a:rPr sz="1500" b="0">
                <a:solidFill>
                  <a:srgbClr val="1B2738"/>
                </a:solidFill>
                <a:latin typeface="Segoe UI"/>
              </a:rPr>
              <a:t> / </a:t>
            </a:r>
            <a:r>
              <a:rPr sz="1400" b="0">
                <a:solidFill>
                  <a:srgbClr val="E8590C"/>
                </a:solidFill>
                <a:latin typeface="Consolas"/>
              </a:rPr>
              <a:t>consume</a:t>
            </a:r>
            <a:r>
              <a:rPr sz="1500" b="0">
                <a:solidFill>
                  <a:srgbClr val="1B2738"/>
                </a:solidFill>
                <a:latin typeface="Segoe UI"/>
              </a:rPr>
              <a:t> — producer/consumer на голом pika, durable-очередь, ручной </a:t>
            </a:r>
            <a:r>
              <a:rPr sz="1400" b="0">
                <a:solidFill>
                  <a:srgbClr val="E8590C"/>
                </a:solidFill>
                <a:latin typeface="Consolas"/>
              </a:rPr>
              <a:t>basic_ack</a:t>
            </a:r>
            <a:r>
              <a:rPr sz="1500" b="0">
                <a:solidFill>
                  <a:srgbClr val="1B2738"/>
                </a:solidFill>
                <a:latin typeface="Segoe UI"/>
              </a:rPr>
              <a:t>, DLX.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report-queue — демонстрация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Эксперимент: что измерял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4 конфигурации × 3 типа задач × 1/2/4 воркера × 3 повтора = 135 прогонов, 81 минута</a:t>
            </a:r>
          </a:p>
        </p:txBody>
      </p:sp>
      <p:pic>
        <p:nvPicPr>
          <p:cNvPr id="5" name="Picture 4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20775"/>
            <a:ext cx="11057839" cy="3205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report-queue — демонстрация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Результаты и что из них следует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N = 1000, медиана трёх повторов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82384"/>
          <a:ext cx="11057836" cy="199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3336"/>
                <a:gridCol w="2287828"/>
                <a:gridCol w="2923336"/>
                <a:gridCol w="2923336"/>
              </a:tblGrid>
              <a:tr h="399044">
                <a:tc>
                  <a:txBody>
                    <a:bodyPr wrap="square"/>
                    <a:lstStyle/>
                    <a:p>
                      <a:r>
                        <a:rPr sz="1344" b="1">
                          <a:solidFill>
                            <a:srgbClr val="FFFFFF"/>
                          </a:solidFill>
                          <a:latin typeface="Segoe UI"/>
                        </a:rPr>
                        <a:t>Конфигурация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1">
                          <a:solidFill>
                            <a:srgbClr val="FFFFFF"/>
                          </a:solidFill>
                          <a:latin typeface="Segoe UI"/>
                        </a:rPr>
                        <a:t>noop 1w → 4w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1">
                          <a:solidFill>
                            <a:srgbClr val="FFFFFF"/>
                          </a:solidFill>
                          <a:latin typeface="Segoe UI"/>
                        </a:rPr>
                        <a:t>cpu_small 1w → 4w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1">
                          <a:solidFill>
                            <a:srgbClr val="FFFFFF"/>
                          </a:solidFill>
                          <a:latin typeface="Segoe UI"/>
                        </a:rPr>
                        <a:t>Постановка, msg/s</a:t>
                      </a:r>
                    </a:p>
                  </a:txBody>
                  <a:tcPr marL="82296" marR="82296" marT="27432" marB="27432" anchor="ctr">
                    <a:solidFill>
                      <a:srgbClr val="2F6FED"/>
                    </a:solidFill>
                  </a:tcPr>
                </a:tc>
              </a:tr>
              <a:tr h="399044"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Celery + Redis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302 → 739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17 → 63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≈900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99044"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Celery + RabbitMQ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1">
                          <a:solidFill>
                            <a:srgbClr val="1B2738"/>
                          </a:solidFill>
                          <a:latin typeface="Segoe UI"/>
                        </a:rPr>
                        <a:t>474 → 1336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19 → 67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≈1600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  <a:tr h="399044"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RQ </a:t>
                      </a:r>
                      <a:r>
                        <a:rPr sz="1244" b="0">
                          <a:solidFill>
                            <a:srgbClr val="E8590C"/>
                          </a:solidFill>
                          <a:latin typeface="Consolas"/>
                        </a:rPr>
                        <a:t>Worker</a:t>
                      </a:r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 (fork)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13 → 44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7 → 23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2100–2400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99044"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RQ </a:t>
                      </a:r>
                      <a:r>
                        <a:rPr sz="1244" b="0">
                          <a:solidFill>
                            <a:srgbClr val="E8590C"/>
                          </a:solidFill>
                          <a:latin typeface="Consolas"/>
                        </a:rPr>
                        <a:t>SimpleWorker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300 → 846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19 → 64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44" b="0">
                          <a:solidFill>
                            <a:srgbClr val="1B2738"/>
                          </a:solidFill>
                          <a:latin typeface="Segoe UI"/>
                        </a:rPr>
                        <a:t>2100–2400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51924"/>
            <a:ext cx="11057839" cy="20124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672"/>
              </a:spcAft>
              <a:buClr>
                <a:srgbClr val="2F6FED"/>
              </a:buClr>
              <a:buFont typeface="Arial"/>
              <a:buChar char="■"/>
            </a:pPr>
            <a:r>
              <a:rPr sz="1728" b="0">
                <a:solidFill>
                  <a:srgbClr val="1B2738"/>
                </a:solidFill>
                <a:latin typeface="Segoe UI"/>
              </a:rPr>
              <a:t>Накладные расходы очереди — </a:t>
            </a:r>
            <a:r>
              <a:rPr sz="1728" b="1">
                <a:solidFill>
                  <a:srgbClr val="1B2738"/>
                </a:solidFill>
                <a:latin typeface="Segoe UI"/>
              </a:rPr>
              <a:t>≈3 мс</a:t>
            </a:r>
            <a:r>
              <a:rPr sz="1728" b="0">
                <a:solidFill>
                  <a:srgbClr val="1B2738"/>
                </a:solidFill>
                <a:latin typeface="Segoe UI"/>
              </a:rPr>
              <a:t> на задачу end-to-end (Celery + Redis, 4 воркера: p50 = 3 мс, p99 = 4 мс).</a:t>
            </a:r>
          </a:p>
          <a:p>
            <a:pPr marL="237744" indent="-219456">
              <a:spcAft>
                <a:spcPts val="672"/>
              </a:spcAft>
              <a:buClr>
                <a:srgbClr val="2F6FED"/>
              </a:buClr>
              <a:buFont typeface="Arial"/>
              <a:buChar char="■"/>
            </a:pPr>
            <a:r>
              <a:rPr sz="1728" b="1">
                <a:solidFill>
                  <a:srgbClr val="1B2738"/>
                </a:solidFill>
                <a:latin typeface="Segoe UI"/>
              </a:rPr>
              <a:t>От ≈50 мс полезной работы фреймворк и брокер не влияют</a:t>
            </a:r>
            <a:r>
              <a:rPr sz="1728" b="0">
                <a:solidFill>
                  <a:srgbClr val="1B2738"/>
                </a:solidFill>
                <a:latin typeface="Segoe UI"/>
              </a:rPr>
              <a:t> на пропускную способность — выбирать надо по гарантиям, а не по бенчмаркам.</a:t>
            </a:r>
          </a:p>
          <a:p>
            <a:pPr marL="237744" indent="-219456">
              <a:spcAft>
                <a:spcPts val="672"/>
              </a:spcAft>
              <a:buClr>
                <a:srgbClr val="2F6FED"/>
              </a:buClr>
              <a:buFont typeface="Arial"/>
              <a:buChar char="■"/>
            </a:pPr>
            <a:r>
              <a:rPr sz="1728" b="0">
                <a:solidFill>
                  <a:srgbClr val="1B2738"/>
                </a:solidFill>
                <a:latin typeface="Segoe UI"/>
              </a:rPr>
              <a:t>Масштабирование воркерами — </a:t>
            </a:r>
            <a:r>
              <a:rPr sz="1728" b="1">
                <a:solidFill>
                  <a:srgbClr val="1B2738"/>
                </a:solidFill>
                <a:latin typeface="Segoe UI"/>
              </a:rPr>
              <a:t>×3,4–4,1</a:t>
            </a:r>
            <a:r>
              <a:rPr sz="1728" b="0">
                <a:solidFill>
                  <a:srgbClr val="1B2738"/>
                </a:solidFill>
                <a:latin typeface="Segoe UI"/>
              </a:rPr>
              <a:t> при четырёх воркерах; </a:t>
            </a:r>
            <a:r>
              <a:rPr sz="1628" b="0">
                <a:solidFill>
                  <a:srgbClr val="E8590C"/>
                </a:solidFill>
                <a:latin typeface="Consolas"/>
              </a:rPr>
              <a:t>fork</a:t>
            </a:r>
            <a:r>
              <a:rPr sz="1728" b="0">
                <a:solidFill>
                  <a:srgbClr val="1B2738"/>
                </a:solidFill>
                <a:latin typeface="Segoe UI"/>
              </a:rPr>
              <a:t> в RQ стоит порядок величины на микрозадачах.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report-queue — демонстрация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Ограничения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Где это демо честно не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17470"/>
            <a:ext cx="11057839" cy="2811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Нет реестра заказов</a:t>
            </a:r>
            <a:r>
              <a:rPr sz="1500" b="0">
                <a:solidFill>
                  <a:srgbClr val="1B2738"/>
                </a:solidFill>
                <a:latin typeface="Segoe UI"/>
              </a:rPr>
              <a:t>: при </a:t>
            </a:r>
            <a:r>
              <a:rPr sz="1400" b="0">
                <a:solidFill>
                  <a:srgbClr val="E8590C"/>
                </a:solidFill>
                <a:latin typeface="Consolas"/>
              </a:rPr>
              <a:t>TASK_BACKEND=celery</a:t>
            </a:r>
            <a:r>
              <a:rPr sz="1500" b="0">
                <a:solidFill>
                  <a:srgbClr val="1B2738"/>
                </a:solidFill>
                <a:latin typeface="Segoe UI"/>
              </a:rPr>
              <a:t> неизвестный </a:t>
            </a:r>
            <a:r>
              <a:rPr sz="1400" b="0">
                <a:solidFill>
                  <a:srgbClr val="E8590C"/>
                </a:solidFill>
                <a:latin typeface="Consolas"/>
              </a:rPr>
              <a:t>report_id</a:t>
            </a:r>
            <a:r>
              <a:rPr sz="1500" b="0">
                <a:solidFill>
                  <a:srgbClr val="1B2738"/>
                </a:solidFill>
                <a:latin typeface="Segoe UI"/>
              </a:rPr>
              <a:t> отдаёт </a:t>
            </a:r>
            <a:r>
              <a:rPr sz="1400" b="0">
                <a:solidFill>
                  <a:srgbClr val="E8590C"/>
                </a:solidFill>
                <a:latin typeface="Consolas"/>
              </a:rPr>
              <a:t>PENDING</a:t>
            </a:r>
            <a:r>
              <a:rPr sz="1500" b="0">
                <a:solidFill>
                  <a:srgbClr val="1B2738"/>
                </a:solidFill>
                <a:latin typeface="Segoe UI"/>
              </a:rPr>
              <a:t>, а не 404 — сознательно оставлено, чтобы показать различие Celery и RQ.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Polling вместо push</a:t>
            </a:r>
            <a:r>
              <a:rPr sz="1500" b="0">
                <a:solidFill>
                  <a:srgbClr val="1B2738"/>
                </a:solidFill>
                <a:latin typeface="Segoe UI"/>
              </a:rPr>
              <a:t>: лишние запросы; в продакшене — SSE или webhook.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Общий volume вместо объектного хранилища</a:t>
            </a:r>
            <a:r>
              <a:rPr sz="1500" b="0">
                <a:solidFill>
                  <a:srgbClr val="1B2738"/>
                </a:solidFill>
                <a:latin typeface="Segoe UI"/>
              </a:rPr>
              <a:t>: на нескольких хостах нужен S3/MinIO.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Нет транзакционного outbox</a:t>
            </a:r>
            <a:r>
              <a:rPr sz="1500" b="0">
                <a:solidFill>
                  <a:srgbClr val="1B2738"/>
                </a:solidFill>
                <a:latin typeface="Segoe UI"/>
              </a:rPr>
              <a:t>: «записать в БД и поставить задачу» здесь не атомарно (БД в демо нет вовсе).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Бенчмарк на одном хосте</a:t>
            </a:r>
            <a:r>
              <a:rPr sz="1500" b="0">
                <a:solidFill>
                  <a:srgbClr val="1B2738"/>
                </a:solidFill>
                <a:latin typeface="Segoe UI"/>
              </a:rPr>
              <a:t> под Docker Desktop/WSL2: показывает порядки величин и характер масштабирования, а не пределы брокеров.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500" b="1">
                <a:solidFill>
                  <a:srgbClr val="1B2738"/>
                </a:solidFill>
                <a:latin typeface="Segoe UI"/>
              </a:rPr>
              <a:t>Celery синхронный</a:t>
            </a:r>
            <a:r>
              <a:rPr sz="1500" b="0">
                <a:solidFill>
                  <a:srgbClr val="1B2738"/>
                </a:solidFill>
                <a:latin typeface="Segoe UI"/>
              </a:rPr>
              <a:t> внутри асинхронного FastAPI: постановка задачи блокирует event loop на доли миллисекунды — при больших объёмах нужен arq/Taskiq или executor.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report-queue — демонстрация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2738"/>
                </a:solidFill>
                <a:latin typeface="Segoe U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051560" cy="50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B6B7C"/>
                </a:solidFill>
                <a:latin typeface="Segoe UI"/>
              </a:rPr>
              <a:t>Что я понял, пока делал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56257"/>
            <a:ext cx="11057839" cy="29466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Идемпотентность — условие корректности</a:t>
            </a:r>
            <a:r>
              <a:rPr sz="1650" b="0">
                <a:solidFill>
                  <a:srgbClr val="1B2738"/>
                </a:solidFill>
                <a:latin typeface="Segoe UI"/>
              </a:rPr>
              <a:t>, а не оптимизация: при </a:t>
            </a:r>
            <a:r>
              <a:rPr sz="1550" b="0">
                <a:solidFill>
                  <a:srgbClr val="E8590C"/>
                </a:solidFill>
                <a:latin typeface="Consolas"/>
              </a:rPr>
              <a:t>acks_late</a:t>
            </a:r>
            <a:r>
              <a:rPr sz="1650" b="0">
                <a:solidFill>
                  <a:srgbClr val="1B2738"/>
                </a:solidFill>
                <a:latin typeface="Segoe UI"/>
              </a:rPr>
              <a:t> повтор задачи гарантированно случится.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Умолчания фреймворков — это архитектурные решения</a:t>
            </a:r>
            <a:r>
              <a:rPr sz="1650" b="0">
                <a:solidFill>
                  <a:srgbClr val="1B2738"/>
                </a:solidFill>
                <a:latin typeface="Segoe UI"/>
              </a:rPr>
              <a:t>: </a:t>
            </a:r>
            <a:r>
              <a:rPr sz="1550" b="0">
                <a:solidFill>
                  <a:srgbClr val="E8590C"/>
                </a:solidFill>
                <a:latin typeface="Consolas"/>
              </a:rPr>
              <a:t>acks_early</a:t>
            </a:r>
            <a:r>
              <a:rPr sz="1650" b="0">
                <a:solidFill>
                  <a:srgbClr val="1B2738"/>
                </a:solidFill>
                <a:latin typeface="Segoe UI"/>
              </a:rPr>
              <a:t> и </a:t>
            </a:r>
            <a:r>
              <a:rPr sz="1550" b="0">
                <a:solidFill>
                  <a:srgbClr val="E8590C"/>
                </a:solidFill>
                <a:latin typeface="Consolas"/>
              </a:rPr>
              <a:t>prefetch=4</a:t>
            </a:r>
            <a:r>
              <a:rPr sz="1650" b="0">
                <a:solidFill>
                  <a:srgbClr val="1B2738"/>
                </a:solidFill>
                <a:latin typeface="Segoe UI"/>
              </a:rPr>
              <a:t> в Celery, fork в RQ, </a:t>
            </a:r>
            <a:r>
              <a:rPr sz="1550" b="0">
                <a:solidFill>
                  <a:srgbClr val="E8590C"/>
                </a:solidFill>
                <a:latin typeface="Consolas"/>
              </a:rPr>
              <a:t>visibility_timeout</a:t>
            </a:r>
            <a:r>
              <a:rPr sz="1650" b="0">
                <a:solidFill>
                  <a:srgbClr val="1B2738"/>
                </a:solidFill>
                <a:latin typeface="Segoe UI"/>
              </a:rPr>
              <a:t> в Redis меняют гарантии и скорость в разы.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Абстракция над фреймворком дёшева</a:t>
            </a:r>
            <a:r>
              <a:rPr sz="1650" b="0">
                <a:solidFill>
                  <a:srgbClr val="1B2738"/>
                </a:solidFill>
                <a:latin typeface="Segoe UI"/>
              </a:rPr>
              <a:t> и окупается ровно до того момента, когда нужны его уникальные возможности.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Измерять, а не верить</a:t>
            </a:r>
            <a:r>
              <a:rPr sz="1650" b="0">
                <a:solidFill>
                  <a:srgbClr val="1B2738"/>
                </a:solidFill>
                <a:latin typeface="Segoe UI"/>
              </a:rPr>
              <a:t>: RQ </a:t>
            </a:r>
            <a:r>
              <a:rPr sz="1550" b="0">
                <a:solidFill>
                  <a:srgbClr val="E8590C"/>
                </a:solidFill>
                <a:latin typeface="Consolas"/>
              </a:rPr>
              <a:t>Worker</a:t>
            </a:r>
            <a:r>
              <a:rPr sz="1650" b="0">
                <a:solidFill>
                  <a:srgbClr val="1B2738"/>
                </a:solidFill>
                <a:latin typeface="Segoe UI"/>
              </a:rPr>
              <a:t> против </a:t>
            </a:r>
            <a:r>
              <a:rPr sz="1550" b="0">
                <a:solidFill>
                  <a:srgbClr val="E8590C"/>
                </a:solidFill>
                <a:latin typeface="Consolas"/>
              </a:rPr>
              <a:t>SimpleWorker</a:t>
            </a:r>
            <a:r>
              <a:rPr sz="1650" b="0">
                <a:solidFill>
                  <a:srgbClr val="1B2738"/>
                </a:solidFill>
                <a:latin typeface="Segoe UI"/>
              </a:rPr>
              <a:t> — 20×; Redis против RabbitMQ на реальных задачах — 0 %.</a:t>
            </a:r>
          </a:p>
          <a:p>
            <a:pPr marL="237744" indent="-219456">
              <a:spcAft>
                <a:spcPts val="700"/>
              </a:spcAft>
              <a:buClr>
                <a:srgbClr val="2F6FED"/>
              </a:buClr>
              <a:buFont typeface="Arial"/>
              <a:buChar char="■"/>
            </a:pPr>
            <a:r>
              <a:rPr sz="1650" b="1">
                <a:solidFill>
                  <a:srgbClr val="1B2738"/>
                </a:solidFill>
                <a:latin typeface="Segoe UI"/>
              </a:rPr>
              <a:t>Брокер — транспорт, а не хранилище</a:t>
            </a:r>
            <a:r>
              <a:rPr sz="1650" b="0">
                <a:solidFill>
                  <a:srgbClr val="1B2738"/>
                </a:solidFill>
                <a:latin typeface="Segoe UI"/>
              </a:rPr>
              <a:t>: маленькие сообщения, результаты в файлах, TTL на всё.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112638"/>
            <a:ext cx="11057839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112638"/>
            <a:ext cx="63500" cy="8229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240654"/>
            <a:ext cx="106006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B2738"/>
                </a:solidFill>
                <a:latin typeface="Segoe UI"/>
              </a:rPr>
              <a:t>Репозиторий: </a:t>
            </a:r>
            <a:r>
              <a:rPr sz="1500" b="0">
                <a:solidFill>
                  <a:srgbClr val="E8590C"/>
                </a:solidFill>
                <a:latin typeface="Consolas"/>
              </a:rPr>
              <a:t>github.com/kirillkychkin/report-queue</a:t>
            </a:r>
            <a:r>
              <a:rPr sz="1600" b="0">
                <a:solidFill>
                  <a:srgbClr val="1B2738"/>
                </a:solidFill>
                <a:latin typeface="Segoe UI"/>
              </a:rPr>
              <a:t> — код, </a:t>
            </a:r>
            <a:r>
              <a:rPr sz="1500" b="0">
                <a:solidFill>
                  <a:srgbClr val="E8590C"/>
                </a:solidFill>
                <a:latin typeface="Consolas"/>
              </a:rPr>
              <a:t>docs/</a:t>
            </a:r>
            <a:r>
              <a:rPr sz="1600" b="0">
                <a:solidFill>
                  <a:srgbClr val="1B2738"/>
                </a:solidFill>
                <a:latin typeface="Segoe UI"/>
              </a:rPr>
              <a:t>, </a:t>
            </a:r>
            <a:r>
              <a:rPr sz="1500" b="0">
                <a:solidFill>
                  <a:srgbClr val="E8590C"/>
                </a:solidFill>
                <a:latin typeface="Consolas"/>
              </a:rPr>
              <a:t>bench/results/</a:t>
            </a:r>
            <a:r>
              <a:rPr sz="1600" b="0">
                <a:solidFill>
                  <a:srgbClr val="1B2738"/>
                </a:solidFill>
                <a:latin typeface="Segoe UI"/>
              </a:rPr>
              <a:t> (135 прогонов) и обе презентации.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B6B7C"/>
                </a:solidFill>
                <a:latin typeface="Segoe UI"/>
              </a:rPr>
              <a:t>report-queue — демонстрация проекта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419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2F6FE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