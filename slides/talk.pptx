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Начать с примера: отчёт на 10 тысяч строк генерируется 0,4–3 секунды, PDF — дольше. В синхронном API это таймаут nginx и невозможность перезапустить приложение без потери запроса.</a:t>
            </a:r>
          </a:p>
          <a:p>
            <a:r>
              <a:t>Подчеркнуть: очередь не делает работу быстрее — общее время растёт (плюс накладные расходы), но система становится отзывчивой и устойчивой.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Competing consumers — ключ к горизонтальному масштабированию: чтобы добавить мощности, не нужно менять код, нужно поднять ещё один процесс-воркер. Это и покажу в эксперименте (1 → 2 → 4 воркера).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ответ на вопрос «почему так»: выбирается не гарантия, а цена ошибки. Потерять заказ отчёта хуже, чем сгенерировать его дважды — поэтому acks_late и идемпотентность.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Redis-транспорт Celery надстраивает AMQP-подобную семантику поверх списков, и каждая операция ждёт ответа сервера — отсюда накладные расходы на постановку (1583 msg/s против 2333 на RabbitMQ). Но как только RabbitMQ начинает подтверждать публикацию, он проигрывает Redis в 7,5 раза.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на демо вкладку Queues в Management UI: видно reports/notifications, число потребителей, unacked. Это же — ответ на вопрос «как понять, что происходит».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спросят «а почему не Kafka везде»: в Kafka нельзя подтвердить сообщение №5, не подтвердив №4, и нельзя вернуть в очередь одно упавшее сообщение — приходится строить retry-топики.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Обратить внимание: задача — тонкий адаптер, вся доменная логика в generate_report. Именно поэтому одну и ту же функцию удалось прогнать через Celery, RQ и бенчмарк.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Тут же ответ на частый вопрос «почему у меня одна задача выполняется, а девять ждут»: prefetch_multiplier=4 при длинных задачах — воркер резервирует сообщения, которые не может выполнить.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 коде enqueue_batch — chord(group(...), summarize). И сразу оговорка: в продакшене я бы не делал цепочку длиннее 2-3 шагов.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важный результат эксперимента и лучший пример «почему надо измерять»: по умолчанию RQ выглядит катастрофически медленным, но виновата не библиотека, а модель исполнения, которую можно переключить одной строкой.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спросят про asyncio: Celery синхронный, delay() блокирует event loop на время публикации, а результат ждать через .get() внутри корутины нельзя. Выход — run_in_executor или asyncio-фреймворк.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Важный практический момент: метрика для автоскейла — длина очереди и возраст самого старого сообщения, а не загрузка CPU воркера.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слайд «почему приложение следует проектировать именно так»: у каждого решения есть область, где оно ломается, и её лучше назвать самому.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Абстракция нужна была не ради красоты: без неё сравнение Celery и RQ было бы сравнением двух разных приложений. Цена — уникальные фичи (canvas, depends_on) используются точечно внутри адаптеров, а не из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Ключевое методическое решение — общий сборщик метрик: каждая задача сама пишет timestamps в общий Redis-список, поэтому результат не зависит от особенностей result backend конкретного фреймворка.</a:t>
            </a:r>
          </a:p>
          <a:p>
            <a:r>
              <a:t>Вторая важная вещь: очередь наполняется заранее, поэтому пропускная способность — это скорость воркеров, а не продьюсера.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направо: на noop разница в разы, на cpu_small и io_sleep все конфигурации без fork сходятся в одну точку. Это главный практический вывод: выбирать надо по гарантиям и удобству, а не по бенчмаркам на пустых задачах.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Оговорки: один хост, Docker Desktop/WSL2 (RTT до брокера ~100 мкс, fork дороже), один однопоточный продьюсер, очередь наполнена заранее — это верхняя граница пропускной способности.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Диагностика воспроизводима: bench/diagnose.py меряет потолок Redis, цену публикации в Celery и цену publisher confirms. Разбор — docs/experiment.md, раздел «Что было не так в первой версии».</a:t>
            </a:r>
          </a:p>
          <a:p>
            <a:r>
              <a:t>Это лучший слайд для вопроса «а вы уверены в своих цифрах»: сначала проверил данные (135/135 прогонов, разброс 1 %), потом механику, потом переснял матрицу.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Финальная мысль: очередь задач — простая идея с дорогими деталями. Сложность не в том, чтобы поставить задачу, а в том, чтобы пережить повтор, падение и перезапуск.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Готовые ответы: почему TaskBackend, почему acks_late, почему две очереди, почему результат в файлах, почему Redis для демо и RabbitMQ для продакшена.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97480"/>
          </a:xfrm>
          <a:prstGeom prst="rect">
            <a:avLst/>
          </a:prstGeom>
          <a:solidFill>
            <a:srgbClr val="12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91695" cy="762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Segoe UI"/>
              </a:rPr>
              <a:t>Очереди сообщений и фоновые задачи в Python</a:t>
            </a:r>
          </a:p>
          <a:p>
            <a:pPr>
              <a:spcBef>
                <a:spcPts val="1000"/>
              </a:spcBef>
            </a:pPr>
            <a:r>
              <a:rPr sz="1900" b="0">
                <a:solidFill>
                  <a:srgbClr val="C3D4F5"/>
                </a:solidFill>
                <a:latin typeface="Segoe UI"/>
              </a:rPr>
              <a:t>Celery / RQ, Redis / RabbitMQ, producer-consumer, распределённая обработка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429000"/>
            <a:ext cx="1105783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5B6B7C"/>
                </a:solidFill>
                <a:latin typeface="Segoe UI"/>
              </a:rPr>
              <a:t>Дисциплина:  </a:t>
            </a:r>
            <a:r>
              <a:rPr sz="1700" b="0">
                <a:solidFill>
                  <a:srgbClr val="1B2738"/>
                </a:solidFill>
                <a:latin typeface="Segoe UI"/>
              </a:rPr>
              <a:t>Разработка приложений на Python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B6B7C"/>
                </a:solidFill>
                <a:latin typeface="Segoe UI"/>
              </a:rPr>
              <a:t>Докладчик:  </a:t>
            </a:r>
            <a:r>
              <a:rPr sz="1700" b="1">
                <a:solidFill>
                  <a:srgbClr val="1B2738"/>
                </a:solidFill>
                <a:latin typeface="Segoe UI"/>
              </a:rPr>
              <a:t>Кычкин Кирилл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B6B7C"/>
                </a:solidFill>
                <a:latin typeface="Segoe UI"/>
              </a:rPr>
              <a:t>Репозиторий:  </a:t>
            </a:r>
            <a:r>
              <a:rPr sz="1700" b="0">
                <a:solidFill>
                  <a:srgbClr val="1B2738"/>
                </a:solidFill>
                <a:latin typeface="Consolas"/>
              </a:rPr>
              <a:t>github.com/kirillkychkin/report-queue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B6B7C"/>
                </a:solidFill>
                <a:latin typeface="Segoe UI"/>
              </a:rPr>
              <a:t>Дата:  </a:t>
            </a:r>
            <a:r>
              <a:rPr sz="1700" b="0">
                <a:solidFill>
                  <a:srgbClr val="1B2738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Зачем вообще фоновые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Четыре причины вынести работу из HTTP-запроса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93417"/>
            <a:ext cx="11057839" cy="29466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Время ответа.</a:t>
            </a:r>
            <a:r>
              <a:rPr sz="1650" b="0">
                <a:solidFill>
                  <a:srgbClr val="1B2738"/>
                </a:solidFill>
                <a:latin typeface="Segoe UI"/>
              </a:rPr>
              <a:t> Генерация отчёта, PDF, рассылка, ML-инференс — секунды и минуты. Пользователь и балансировщик столько не ждут: ответ </a:t>
            </a:r>
            <a:r>
              <a:rPr sz="1550" b="0">
                <a:solidFill>
                  <a:srgbClr val="E8590C"/>
                </a:solidFill>
                <a:latin typeface="Consolas"/>
              </a:rPr>
              <a:t>202 Accepted</a:t>
            </a:r>
            <a:r>
              <a:rPr sz="1650" b="0">
                <a:solidFill>
                  <a:srgbClr val="1B2738"/>
                </a:solidFill>
                <a:latin typeface="Segoe UI"/>
              </a:rPr>
              <a:t> + идентификатор вместо висящего соединения.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Надёжность.</a:t>
            </a:r>
            <a:r>
              <a:rPr sz="1650" b="0">
                <a:solidFill>
                  <a:srgbClr val="1B2738"/>
                </a:solidFill>
                <a:latin typeface="Segoe UI"/>
              </a:rPr>
              <a:t> Внешний сервис упал — задача </a:t>
            </a:r>
            <a:r>
              <a:rPr sz="1650" b="1">
                <a:solidFill>
                  <a:srgbClr val="1B2738"/>
                </a:solidFill>
                <a:latin typeface="Segoe UI"/>
              </a:rPr>
              <a:t>повторяется</a:t>
            </a:r>
            <a:r>
              <a:rPr sz="1650" b="0">
                <a:solidFill>
                  <a:srgbClr val="1B2738"/>
                </a:solidFill>
                <a:latin typeface="Segoe UI"/>
              </a:rPr>
              <a:t>, а не теряется вместе с запросом. Повтор с экспоненциальным backoff — встроенная функция фреймворка, а не </a:t>
            </a:r>
            <a:r>
              <a:rPr sz="1550" b="0">
                <a:solidFill>
                  <a:srgbClr val="E8590C"/>
                </a:solidFill>
                <a:latin typeface="Consolas"/>
              </a:rPr>
              <a:t>try/except</a:t>
            </a:r>
            <a:r>
              <a:rPr sz="1650" b="0">
                <a:solidFill>
                  <a:srgbClr val="1B2738"/>
                </a:solidFill>
                <a:latin typeface="Segoe UI"/>
              </a:rPr>
              <a:t> в контроллере.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Сглаживание пиков.</a:t>
            </a:r>
            <a:r>
              <a:rPr sz="1650" b="0">
                <a:solidFill>
                  <a:srgbClr val="1B2738"/>
                </a:solidFill>
                <a:latin typeface="Segoe UI"/>
              </a:rPr>
              <a:t> Очередь — буфер: приходит 1000 заказов в секунду, обрабатывается 100 — растёт очередь, а не список ошибок 500.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Раздельное масштабирование.</a:t>
            </a:r>
            <a:r>
              <a:rPr sz="1650" b="0">
                <a:solidFill>
                  <a:srgbClr val="1B2738"/>
                </a:solidFill>
                <a:latin typeface="Segoe UI"/>
              </a:rPr>
              <a:t> Веб-слой и воркеры масштабируются независимо: CPU-задачи не мешают отдавать страницы.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0">
                <a:solidFill>
                  <a:srgbClr val="1B2738"/>
                </a:solidFill>
                <a:latin typeface="Segoe UI"/>
              </a:rPr>
              <a:t>Побочный эффект — </a:t>
            </a:r>
            <a:r>
              <a:rPr sz="1650" b="1">
                <a:solidFill>
                  <a:srgbClr val="1B2738"/>
                </a:solidFill>
                <a:latin typeface="Segoe UI"/>
              </a:rPr>
              <a:t>разделение ответственности</a:t>
            </a:r>
            <a:r>
              <a:rPr sz="1650" b="0">
                <a:solidFill>
                  <a:srgbClr val="1B2738"/>
                </a:solidFill>
                <a:latin typeface="Segoe UI"/>
              </a:rPr>
              <a:t>: домен не знает о HTTP, воркер — тонкий адаптер.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249798"/>
            <a:ext cx="11057839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5249798"/>
            <a:ext cx="63500" cy="5486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377814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B2738"/>
                </a:solidFill>
                <a:latin typeface="Segoe UI"/>
              </a:rPr>
              <a:t>Очередь задач — это не «ускорение», а перенос работы во времени и обмен синхронности на надёжность.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Producer / consumer: базовый паттерн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Продьюсер, брокер, консьюмер — и три разных способа их соединить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51760"/>
            <a:ext cx="11057839" cy="2720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Producer</a:t>
            </a:r>
            <a:r>
              <a:rPr sz="1500" b="0">
                <a:solidFill>
                  <a:srgbClr val="1B2738"/>
                </a:solidFill>
                <a:latin typeface="Segoe UI"/>
              </a:rPr>
              <a:t> кладёт сообщение в брокер и сразу забывает о нём. </a:t>
            </a:r>
            <a:r>
              <a:rPr sz="1500" b="1">
                <a:solidFill>
                  <a:srgbClr val="1B2738"/>
                </a:solidFill>
                <a:latin typeface="Segoe UI"/>
              </a:rPr>
              <a:t>Consumer</a:t>
            </a:r>
            <a:r>
              <a:rPr sz="1500" b="0">
                <a:solidFill>
                  <a:srgbClr val="1B2738"/>
                </a:solidFill>
                <a:latin typeface="Segoe UI"/>
              </a:rPr>
              <a:t> забирает и выполняет. Они не знают друг о друге — связаны только форматом сообщения и именем очереди.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Work queue (очередь задач)</a:t>
            </a:r>
            <a:r>
              <a:rPr sz="1500" b="0">
                <a:solidFill>
                  <a:srgbClr val="1B2738"/>
                </a:solidFill>
                <a:latin typeface="Segoe UI"/>
              </a:rPr>
              <a:t>: одно сообщение — </a:t>
            </a:r>
            <a:r>
              <a:rPr sz="1500" b="1">
                <a:solidFill>
                  <a:srgbClr val="1B2738"/>
                </a:solidFill>
                <a:latin typeface="Segoe UI"/>
              </a:rPr>
              <a:t>один</a:t>
            </a:r>
            <a:r>
              <a:rPr sz="1500" b="0">
                <a:solidFill>
                  <a:srgbClr val="1B2738"/>
                </a:solidFill>
                <a:latin typeface="Segoe UI"/>
              </a:rPr>
              <a:t> обработчик. Несколько воркеров на одной очереди — это </a:t>
            </a:r>
            <a:r>
              <a:rPr sz="1500" b="0" i="1">
                <a:solidFill>
                  <a:srgbClr val="1B2738"/>
                </a:solidFill>
                <a:latin typeface="Segoe UI"/>
              </a:rPr>
              <a:t>competing consumers</a:t>
            </a:r>
            <a:r>
              <a:rPr sz="1500" b="0">
                <a:solidFill>
                  <a:srgbClr val="1B2738"/>
                </a:solidFill>
                <a:latin typeface="Segoe UI"/>
              </a:rPr>
              <a:t>, брокер сам раздаёт им работу.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Pub/Sub (публикация-подписка)</a:t>
            </a:r>
            <a:r>
              <a:rPr sz="1500" b="0">
                <a:solidFill>
                  <a:srgbClr val="1B2738"/>
                </a:solidFill>
                <a:latin typeface="Segoe UI"/>
              </a:rPr>
              <a:t>: одно событие — </a:t>
            </a:r>
            <a:r>
              <a:rPr sz="1500" b="1">
                <a:solidFill>
                  <a:srgbClr val="1B2738"/>
                </a:solidFill>
                <a:latin typeface="Segoe UI"/>
              </a:rPr>
              <a:t>все</a:t>
            </a:r>
            <a:r>
              <a:rPr sz="1500" b="0">
                <a:solidFill>
                  <a:srgbClr val="1B2738"/>
                </a:solidFill>
                <a:latin typeface="Segoe UI"/>
              </a:rPr>
              <a:t> подписчики, каждый со своей копией. Это уже не «задача», а уведомление о факте.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Разница принципиальна</a:t>
            </a:r>
            <a:r>
              <a:rPr sz="1500" b="0">
                <a:solidFill>
                  <a:srgbClr val="1B2738"/>
                </a:solidFill>
                <a:latin typeface="Segoe UI"/>
              </a:rPr>
              <a:t>: work queue балансирует нагрузку, pub/sub размножает её. Ошибка выбора — типичная причина «почему задача выполнилась четыре раза».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0">
                <a:solidFill>
                  <a:srgbClr val="1B2738"/>
                </a:solidFill>
                <a:latin typeface="Segoe UI"/>
              </a:rPr>
              <a:t>В RabbitMQ обе модели — один механизм: </a:t>
            </a:r>
            <a:r>
              <a:rPr sz="1400" b="0">
                <a:solidFill>
                  <a:srgbClr val="E8590C"/>
                </a:solidFill>
                <a:latin typeface="Consolas"/>
              </a:rPr>
              <a:t>exchange</a:t>
            </a:r>
            <a:r>
              <a:rPr sz="1500" b="0">
                <a:solidFill>
                  <a:srgbClr val="1B2738"/>
                </a:solidFill>
                <a:latin typeface="Segoe UI"/>
              </a:rPr>
              <a:t> типа </a:t>
            </a:r>
            <a:r>
              <a:rPr sz="1400" b="0">
                <a:solidFill>
                  <a:srgbClr val="E8590C"/>
                </a:solidFill>
                <a:latin typeface="Consolas"/>
              </a:rPr>
              <a:t>direct</a:t>
            </a:r>
            <a:r>
              <a:rPr sz="1500" b="0">
                <a:solidFill>
                  <a:srgbClr val="1B2738"/>
                </a:solidFill>
                <a:latin typeface="Segoe UI"/>
              </a:rPr>
              <a:t> с одной очередью против </a:t>
            </a:r>
            <a:r>
              <a:rPr sz="1400" b="0">
                <a:solidFill>
                  <a:srgbClr val="E8590C"/>
                </a:solidFill>
                <a:latin typeface="Consolas"/>
              </a:rPr>
              <a:t>fanout</a:t>
            </a:r>
            <a:r>
              <a:rPr sz="1500" b="0">
                <a:solidFill>
                  <a:srgbClr val="1B2738"/>
                </a:solidFill>
                <a:latin typeface="Segoe UI"/>
              </a:rPr>
              <a:t> с очередью на подписчика.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Гарантии доставки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«Ровно один раз» не существует — есть идемпотентность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69131"/>
          <a:ext cx="11057837" cy="1521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229"/>
                <a:gridCol w="3055455"/>
                <a:gridCol w="2982706"/>
                <a:gridCol w="3637447"/>
              </a:tblGrid>
              <a:tr h="380268">
                <a:tc>
                  <a:txBody>
                    <a:bodyPr wrap="square"/>
                    <a:lstStyle/>
                    <a:p>
                      <a:r>
                        <a:rPr sz="1232" b="1">
                          <a:solidFill>
                            <a:srgbClr val="FFFFFF"/>
                          </a:solidFill>
                          <a:latin typeface="Segoe UI"/>
                        </a:rPr>
                        <a:t>Гарантия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1">
                          <a:solidFill>
                            <a:srgbClr val="FFFFFF"/>
                          </a:solidFill>
                          <a:latin typeface="Segoe UI"/>
                        </a:rPr>
                        <a:t>Как достигается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1">
                          <a:solidFill>
                            <a:srgbClr val="FFFFFF"/>
                          </a:solidFill>
                          <a:latin typeface="Segoe UI"/>
                        </a:rPr>
                        <a:t>Риск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1">
                          <a:solidFill>
                            <a:srgbClr val="FFFFFF"/>
                          </a:solidFill>
                          <a:latin typeface="Segoe UI"/>
                        </a:rPr>
                        <a:t>Когда годится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</a:tr>
              <a:tr h="380268"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at-most-once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ack сразу при получении (</a:t>
                      </a:r>
                      <a:r>
                        <a:rPr sz="1132" b="0">
                          <a:solidFill>
                            <a:srgbClr val="E8590C"/>
                          </a:solidFill>
                          <a:latin typeface="Consolas"/>
                        </a:rPr>
                        <a:t>acks_early</a:t>
                      </a:r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задача потеряна при падении воркера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метрики, логи, некритичные уведомления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0268"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at-least-once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ack </a:t>
                      </a:r>
                      <a:r>
                        <a:rPr sz="1232" b="1">
                          <a:solidFill>
                            <a:srgbClr val="1B2738"/>
                          </a:solidFill>
                          <a:latin typeface="Segoe UI"/>
                        </a:rPr>
                        <a:t>после</a:t>
                      </a:r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 выполнения (</a:t>
                      </a:r>
                      <a:r>
                        <a:rPr sz="1132" b="0">
                          <a:solidFill>
                            <a:srgbClr val="E8590C"/>
                          </a:solidFill>
                          <a:latin typeface="Consolas"/>
                        </a:rPr>
                        <a:t>acks_late</a:t>
                      </a:r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задача выполнится повторно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почти всё остальное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80268"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exactly-once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миф в распределённой системе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эмулируется: at-least-once + идемпотентность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764523"/>
            <a:ext cx="11057839" cy="2313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616"/>
              </a:spcAft>
              <a:buClr>
                <a:srgbClr val="2F6FED"/>
              </a:buClr>
              <a:buFont typeface="Arial"/>
              <a:buChar char="■"/>
            </a:pPr>
            <a:r>
              <a:rPr sz="1452" b="0">
                <a:solidFill>
                  <a:srgbClr val="1B2738"/>
                </a:solidFill>
                <a:latin typeface="Segoe UI"/>
              </a:rPr>
              <a:t>Сбой возможен </a:t>
            </a:r>
            <a:r>
              <a:rPr sz="1452" b="1">
                <a:solidFill>
                  <a:srgbClr val="1B2738"/>
                </a:solidFill>
                <a:latin typeface="Segoe UI"/>
              </a:rPr>
              <a:t>между</a:t>
            </a:r>
            <a:r>
              <a:rPr sz="1452" b="0">
                <a:solidFill>
                  <a:srgbClr val="1B2738"/>
                </a:solidFill>
                <a:latin typeface="Segoe UI"/>
              </a:rPr>
              <a:t> выполнением и подтверждением — поэтому «ровно один раз» недостижим без общей транзакции брокера и БД.</a:t>
            </a:r>
          </a:p>
          <a:p>
            <a:pPr marL="237744" indent="-219456">
              <a:spcAft>
                <a:spcPts val="616"/>
              </a:spcAft>
              <a:buClr>
                <a:srgbClr val="2F6FED"/>
              </a:buClr>
              <a:buFont typeface="Arial"/>
              <a:buChar char="■"/>
            </a:pPr>
            <a:r>
              <a:rPr sz="1452" b="0">
                <a:solidFill>
                  <a:srgbClr val="1B2738"/>
                </a:solidFill>
                <a:latin typeface="Segoe UI"/>
              </a:rPr>
              <a:t>Практический рецепт: at-least-once + </a:t>
            </a:r>
            <a:r>
              <a:rPr sz="1452" b="1">
                <a:solidFill>
                  <a:srgbClr val="1B2738"/>
                </a:solidFill>
                <a:latin typeface="Segoe UI"/>
              </a:rPr>
              <a:t>ключ идемпотентности</a:t>
            </a:r>
            <a:r>
              <a:rPr sz="1452" b="0">
                <a:solidFill>
                  <a:srgbClr val="1B2738"/>
                </a:solidFill>
                <a:latin typeface="Segoe UI"/>
              </a:rPr>
              <a:t> (в проекте — </a:t>
            </a:r>
            <a:r>
              <a:rPr sz="1352" b="0">
                <a:solidFill>
                  <a:srgbClr val="E8590C"/>
                </a:solidFill>
                <a:latin typeface="Consolas"/>
              </a:rPr>
              <a:t>report_id</a:t>
            </a:r>
            <a:r>
              <a:rPr sz="1452" b="0">
                <a:solidFill>
                  <a:srgbClr val="1B2738"/>
                </a:solidFill>
                <a:latin typeface="Segoe UI"/>
              </a:rPr>
              <a:t>, результат перезаписывается тем же содержимым).</a:t>
            </a:r>
          </a:p>
          <a:p>
            <a:pPr marL="237744" indent="-219456">
              <a:spcAft>
                <a:spcPts val="616"/>
              </a:spcAft>
              <a:buClr>
                <a:srgbClr val="2F6FED"/>
              </a:buClr>
              <a:buFont typeface="Arial"/>
              <a:buChar char="■"/>
            </a:pPr>
            <a:r>
              <a:rPr sz="1452" b="0">
                <a:solidFill>
                  <a:srgbClr val="1B2738"/>
                </a:solidFill>
                <a:latin typeface="Segoe UI"/>
              </a:rPr>
              <a:t>Если воркер молчит дольше </a:t>
            </a:r>
            <a:r>
              <a:rPr sz="1352" b="0">
                <a:solidFill>
                  <a:srgbClr val="E8590C"/>
                </a:solidFill>
                <a:latin typeface="Consolas"/>
              </a:rPr>
              <a:t>visibility timeout</a:t>
            </a:r>
            <a:r>
              <a:rPr sz="1452" b="0">
                <a:solidFill>
                  <a:srgbClr val="1B2738"/>
                </a:solidFill>
                <a:latin typeface="Segoe UI"/>
              </a:rPr>
              <a:t> (Redis) или разорвал соединение (RabbitMQ) — сообщение вернётся в очередь другому воркеру.</a:t>
            </a:r>
          </a:p>
          <a:p>
            <a:pPr marL="237744" indent="-219456">
              <a:spcAft>
                <a:spcPts val="616"/>
              </a:spcAft>
              <a:buClr>
                <a:srgbClr val="2F6FED"/>
              </a:buClr>
              <a:buFont typeface="Arial"/>
              <a:buChar char="■"/>
            </a:pPr>
            <a:r>
              <a:rPr sz="1452" b="1">
                <a:solidFill>
                  <a:srgbClr val="1B2738"/>
                </a:solidFill>
                <a:latin typeface="Segoe UI"/>
              </a:rPr>
              <a:t>Dead letter</a:t>
            </a:r>
            <a:r>
              <a:rPr sz="1452" b="0">
                <a:solidFill>
                  <a:srgbClr val="1B2738"/>
                </a:solidFill>
                <a:latin typeface="Segoe UI"/>
              </a:rPr>
              <a:t>: после N неудачных попыток сообщение уходит в отдельную очередь, а не крутится вечно, блокируя воркер (</a:t>
            </a:r>
            <a:r>
              <a:rPr sz="1452" b="0" i="1">
                <a:solidFill>
                  <a:srgbClr val="1B2738"/>
                </a:solidFill>
                <a:latin typeface="Segoe UI"/>
              </a:rPr>
              <a:t>poison message</a:t>
            </a:r>
            <a:r>
              <a:rPr sz="1452" b="0">
                <a:solidFill>
                  <a:srgbClr val="1B2738"/>
                </a:solidFill>
                <a:latin typeface="Segoe UI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Redis как брокер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Структура данных вместо протокола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06574"/>
            <a:ext cx="11057839" cy="2720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Как это работает</a:t>
            </a:r>
            <a:r>
              <a:rPr sz="1500" b="0">
                <a:solidFill>
                  <a:srgbClr val="1B2738"/>
                </a:solidFill>
                <a:latin typeface="Segoe UI"/>
              </a:rPr>
              <a:t>: очередь — обычный список, </a:t>
            </a:r>
            <a:r>
              <a:rPr sz="1400" b="0">
                <a:solidFill>
                  <a:srgbClr val="E8590C"/>
                </a:solidFill>
                <a:latin typeface="Consolas"/>
              </a:rPr>
              <a:t>LPUSH</a:t>
            </a:r>
            <a:r>
              <a:rPr sz="1500" b="0">
                <a:solidFill>
                  <a:srgbClr val="1B2738"/>
                </a:solidFill>
                <a:latin typeface="Segoe UI"/>
              </a:rPr>
              <a:t> кладёт, </a:t>
            </a:r>
            <a:r>
              <a:rPr sz="1400" b="0">
                <a:solidFill>
                  <a:srgbClr val="E8590C"/>
                </a:solidFill>
                <a:latin typeface="Consolas"/>
              </a:rPr>
              <a:t>BRPOP</a:t>
            </a:r>
            <a:r>
              <a:rPr sz="1500" b="0">
                <a:solidFill>
                  <a:srgbClr val="1B2738"/>
                </a:solidFill>
                <a:latin typeface="Segoe UI"/>
              </a:rPr>
              <a:t> блокирующе забирает. Никакого специального протокола очередей нет.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Redis Streams</a:t>
            </a:r>
            <a:r>
              <a:rPr sz="1500" b="0">
                <a:solidFill>
                  <a:srgbClr val="1B2738"/>
                </a:solidFill>
                <a:latin typeface="Segoe UI"/>
              </a:rPr>
              <a:t> (</a:t>
            </a:r>
            <a:r>
              <a:rPr sz="1400" b="0">
                <a:solidFill>
                  <a:srgbClr val="E8590C"/>
                </a:solidFill>
                <a:latin typeface="Consolas"/>
              </a:rPr>
              <a:t>XADD</a:t>
            </a:r>
            <a:r>
              <a:rPr sz="1500" b="0">
                <a:solidFill>
                  <a:srgbClr val="1B2738"/>
                </a:solidFill>
                <a:latin typeface="Segoe UI"/>
              </a:rPr>
              <a:t> / </a:t>
            </a:r>
            <a:r>
              <a:rPr sz="1400" b="0">
                <a:solidFill>
                  <a:srgbClr val="E8590C"/>
                </a:solidFill>
                <a:latin typeface="Consolas"/>
              </a:rPr>
              <a:t>XREADGROUP</a:t>
            </a:r>
            <a:r>
              <a:rPr sz="1500" b="0">
                <a:solidFill>
                  <a:srgbClr val="1B2738"/>
                </a:solidFill>
                <a:latin typeface="Segoe UI"/>
              </a:rPr>
              <a:t>) — более честная модель: consumer groups, подтверждения </a:t>
            </a:r>
            <a:r>
              <a:rPr sz="1400" b="0">
                <a:solidFill>
                  <a:srgbClr val="E8590C"/>
                </a:solidFill>
                <a:latin typeface="Consolas"/>
              </a:rPr>
              <a:t>XACK</a:t>
            </a:r>
            <a:r>
              <a:rPr sz="1500" b="0">
                <a:solidFill>
                  <a:srgbClr val="1B2738"/>
                </a:solidFill>
                <a:latin typeface="Segoe UI"/>
              </a:rPr>
              <a:t>, список «взятых, но не подтверждённых» (PEL) и история сообщений.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Персистентность</a:t>
            </a:r>
            <a:r>
              <a:rPr sz="1500" b="0">
                <a:solidFill>
                  <a:srgbClr val="1B2738"/>
                </a:solidFill>
                <a:latin typeface="Segoe UI"/>
              </a:rPr>
              <a:t>: RDB (снимки) и AOF (журнал, </a:t>
            </a:r>
            <a:r>
              <a:rPr sz="1400" b="0">
                <a:solidFill>
                  <a:srgbClr val="E8590C"/>
                </a:solidFill>
                <a:latin typeface="Consolas"/>
              </a:rPr>
              <a:t>appendfsync everysec</a:t>
            </a:r>
            <a:r>
              <a:rPr sz="1500" b="0">
                <a:solidFill>
                  <a:srgbClr val="1B2738"/>
                </a:solidFill>
                <a:latin typeface="Segoe UI"/>
              </a:rPr>
              <a:t>) — при падении теряется до секунды записей.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Чего нет</a:t>
            </a:r>
            <a:r>
              <a:rPr sz="1500" b="0">
                <a:solidFill>
                  <a:srgbClr val="1B2738"/>
                </a:solidFill>
                <a:latin typeface="Segoe UI"/>
              </a:rPr>
              <a:t>: настоящих ack для списков, exchange и маршрутизации, DLX, приоритетов (Celery эмулирует их несколькими списками), publisher confirms.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Ack эмулируется</a:t>
            </a:r>
            <a:r>
              <a:rPr sz="1500" b="0">
                <a:solidFill>
                  <a:srgbClr val="1B2738"/>
                </a:solidFill>
                <a:latin typeface="Segoe UI"/>
              </a:rPr>
              <a:t> </a:t>
            </a:r>
            <a:r>
              <a:rPr sz="1400" b="0">
                <a:solidFill>
                  <a:srgbClr val="E8590C"/>
                </a:solidFill>
                <a:latin typeface="Consolas"/>
              </a:rPr>
              <a:t>visibility_timeout</a:t>
            </a:r>
            <a:r>
              <a:rPr sz="1500" b="0">
                <a:solidFill>
                  <a:srgbClr val="1B2738"/>
                </a:solidFill>
                <a:latin typeface="Segoe UI"/>
              </a:rPr>
              <a:t> (по умолчанию 1 час у Celery): задача, выполняющаяся дольше, будет выдана повторно другому воркеру — классическая ловушка.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136642"/>
            <a:ext cx="11057839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5136642"/>
            <a:ext cx="63500" cy="5486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264658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B2738"/>
                </a:solidFill>
                <a:latin typeface="Segoe UI"/>
              </a:rPr>
              <a:t>Redis — брокер «в подарок», если он уже есть в проекте. Его слабое место не скорость, а гарантии.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RabbitMQ: AMQP 0-9-1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Брокер, спроектированный как брокер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51760"/>
            <a:ext cx="11057839" cy="2720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Маршрутизация</a:t>
            </a:r>
            <a:r>
              <a:rPr sz="1500" b="0">
                <a:solidFill>
                  <a:srgbClr val="1B2738"/>
                </a:solidFill>
                <a:latin typeface="Segoe UI"/>
              </a:rPr>
              <a:t>: продьюсер публикует не в очередь, а в </a:t>
            </a:r>
            <a:r>
              <a:rPr sz="1400" b="0">
                <a:solidFill>
                  <a:srgbClr val="E8590C"/>
                </a:solidFill>
                <a:latin typeface="Consolas"/>
              </a:rPr>
              <a:t>exchange</a:t>
            </a:r>
            <a:r>
              <a:rPr sz="1500" b="0">
                <a:solidFill>
                  <a:srgbClr val="1B2738"/>
                </a:solidFill>
                <a:latin typeface="Segoe UI"/>
              </a:rPr>
              <a:t>; </a:t>
            </a:r>
            <a:r>
              <a:rPr sz="1400" b="0">
                <a:solidFill>
                  <a:srgbClr val="E8590C"/>
                </a:solidFill>
                <a:latin typeface="Consolas"/>
              </a:rPr>
              <a:t>binding</a:t>
            </a:r>
            <a:r>
              <a:rPr sz="1500" b="0">
                <a:solidFill>
                  <a:srgbClr val="1B2738"/>
                </a:solidFill>
                <a:latin typeface="Segoe UI"/>
              </a:rPr>
              <a:t> по ключу решает, в какие очереди попадёт копия. Типы: </a:t>
            </a:r>
            <a:r>
              <a:rPr sz="1400" b="0">
                <a:solidFill>
                  <a:srgbClr val="E8590C"/>
                </a:solidFill>
                <a:latin typeface="Consolas"/>
              </a:rPr>
              <a:t>direct</a:t>
            </a:r>
            <a:r>
              <a:rPr sz="1500" b="0">
                <a:solidFill>
                  <a:srgbClr val="1B2738"/>
                </a:solidFill>
                <a:latin typeface="Segoe UI"/>
              </a:rPr>
              <a:t>, </a:t>
            </a:r>
            <a:r>
              <a:rPr sz="1400" b="0">
                <a:solidFill>
                  <a:srgbClr val="E8590C"/>
                </a:solidFill>
                <a:latin typeface="Consolas"/>
              </a:rPr>
              <a:t>topic</a:t>
            </a:r>
            <a:r>
              <a:rPr sz="1500" b="0">
                <a:solidFill>
                  <a:srgbClr val="1B2738"/>
                </a:solidFill>
                <a:latin typeface="Segoe UI"/>
              </a:rPr>
              <a:t>, </a:t>
            </a:r>
            <a:r>
              <a:rPr sz="1400" b="0">
                <a:solidFill>
                  <a:srgbClr val="E8590C"/>
                </a:solidFill>
                <a:latin typeface="Consolas"/>
              </a:rPr>
              <a:t>fanout</a:t>
            </a:r>
            <a:r>
              <a:rPr sz="1500" b="0">
                <a:solidFill>
                  <a:srgbClr val="1B2738"/>
                </a:solidFill>
                <a:latin typeface="Segoe UI"/>
              </a:rPr>
              <a:t>, </a:t>
            </a:r>
            <a:r>
              <a:rPr sz="1400" b="0">
                <a:solidFill>
                  <a:srgbClr val="E8590C"/>
                </a:solidFill>
                <a:latin typeface="Consolas"/>
              </a:rPr>
              <a:t>headers</a:t>
            </a:r>
            <a:r>
              <a:rPr sz="1500" b="0">
                <a:solidFill>
                  <a:srgbClr val="1B2738"/>
                </a:solidFill>
                <a:latin typeface="Segoe UI"/>
              </a:rPr>
              <a:t>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Подтверждения</a:t>
            </a:r>
            <a:r>
              <a:rPr sz="1500" b="0">
                <a:solidFill>
                  <a:srgbClr val="1B2738"/>
                </a:solidFill>
                <a:latin typeface="Segoe UI"/>
              </a:rPr>
              <a:t>: </a:t>
            </a:r>
            <a:r>
              <a:rPr sz="1400" b="0">
                <a:solidFill>
                  <a:srgbClr val="E8590C"/>
                </a:solidFill>
                <a:latin typeface="Consolas"/>
              </a:rPr>
              <a:t>basic_ack</a:t>
            </a:r>
            <a:r>
              <a:rPr sz="1500" b="0">
                <a:solidFill>
                  <a:srgbClr val="1B2738"/>
                </a:solidFill>
                <a:latin typeface="Segoe UI"/>
              </a:rPr>
              <a:t> / </a:t>
            </a:r>
            <a:r>
              <a:rPr sz="1400" b="0">
                <a:solidFill>
                  <a:srgbClr val="E8590C"/>
                </a:solidFill>
                <a:latin typeface="Consolas"/>
              </a:rPr>
              <a:t>basic_nack</a:t>
            </a:r>
            <a:r>
              <a:rPr sz="1500" b="0">
                <a:solidFill>
                  <a:srgbClr val="1B2738"/>
                </a:solidFill>
                <a:latin typeface="Segoe UI"/>
              </a:rPr>
              <a:t> / </a:t>
            </a:r>
            <a:r>
              <a:rPr sz="1400" b="0">
                <a:solidFill>
                  <a:srgbClr val="E8590C"/>
                </a:solidFill>
                <a:latin typeface="Consolas"/>
              </a:rPr>
              <a:t>basic_reject</a:t>
            </a:r>
            <a:r>
              <a:rPr sz="1500" b="0">
                <a:solidFill>
                  <a:srgbClr val="1B2738"/>
                </a:solidFill>
                <a:latin typeface="Segoe UI"/>
              </a:rPr>
              <a:t> — с </a:t>
            </a:r>
            <a:r>
              <a:rPr sz="1400" b="0">
                <a:solidFill>
                  <a:srgbClr val="E8590C"/>
                </a:solidFill>
                <a:latin typeface="Consolas"/>
              </a:rPr>
              <a:t>requeue=True/False</a:t>
            </a:r>
            <a:r>
              <a:rPr sz="1500" b="0">
                <a:solidFill>
                  <a:srgbClr val="1B2738"/>
                </a:solidFill>
                <a:latin typeface="Segoe UI"/>
              </a:rPr>
              <a:t>; на стороне продьюсера — </a:t>
            </a:r>
            <a:r>
              <a:rPr sz="1500" b="0" i="1">
                <a:solidFill>
                  <a:srgbClr val="1B2738"/>
                </a:solidFill>
                <a:latin typeface="Segoe UI"/>
              </a:rPr>
              <a:t>publisher confirms</a:t>
            </a:r>
            <a:r>
              <a:rPr sz="1500" b="0">
                <a:solidFill>
                  <a:srgbClr val="1B2738"/>
                </a:solidFill>
                <a:latin typeface="Segoe UI"/>
              </a:rPr>
              <a:t>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400" b="1">
                <a:solidFill>
                  <a:srgbClr val="E8590C"/>
                </a:solidFill>
                <a:latin typeface="Consolas"/>
              </a:rPr>
              <a:t>prefetch_count</a:t>
            </a:r>
            <a:r>
              <a:rPr sz="1500" b="0">
                <a:solidFill>
                  <a:srgbClr val="1B2738"/>
                </a:solidFill>
                <a:latin typeface="Segoe UI"/>
              </a:rPr>
              <a:t> ограничивает число невыполненных сообщений на потребителя: без него быстрый воркер заберёт всю очередь, а медленный будет простаивать.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Durable queue + persistent message</a:t>
            </a:r>
            <a:r>
              <a:rPr sz="1500" b="0">
                <a:solidFill>
                  <a:srgbClr val="1B2738"/>
                </a:solidFill>
                <a:latin typeface="Segoe UI"/>
              </a:rPr>
              <a:t> — очередь и сообщения переживают перезапуск брокера (ценой fsync).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DLX</a:t>
            </a:r>
            <a:r>
              <a:rPr sz="1500" b="0">
                <a:solidFill>
                  <a:srgbClr val="1B2738"/>
                </a:solidFill>
                <a:latin typeface="Segoe UI"/>
              </a:rPr>
              <a:t> (dead-letter exchange), TTL сообщений, лимиты длины очереди, приоритеты — встроены; Management UI на </a:t>
            </a:r>
            <a:r>
              <a:rPr sz="1400" b="0">
                <a:solidFill>
                  <a:srgbClr val="E8590C"/>
                </a:solidFill>
                <a:latin typeface="Consolas"/>
              </a:rPr>
              <a:t>:15672</a:t>
            </a:r>
            <a:r>
              <a:rPr sz="1500" b="0">
                <a:solidFill>
                  <a:srgbClr val="1B2738"/>
                </a:solidFill>
                <a:latin typeface="Segoe UI"/>
              </a:rPr>
              <a:t> показывает очереди, скорость, потребителей.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Redis vs RabbitMQ vs Kafka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Разные инструменты, а не разные версии одного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008877"/>
          <a:ext cx="11057837" cy="2337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3619"/>
                <a:gridCol w="2804524"/>
                <a:gridCol w="3044912"/>
                <a:gridCol w="2964782"/>
              </a:tblGrid>
              <a:tr h="389656">
                <a:tc>
                  <a:txBody>
                    <a:bodyPr wrap="square"/>
                    <a:lstStyle/>
                    <a:p>
                      <a:r>
                        <a:rPr sz="1288" b="1">
                          <a:solidFill>
                            <a:srgbClr val="FFFFFF"/>
                          </a:solidFill>
                          <a:latin typeface="Segoe UI"/>
                        </a:rPr>
                        <a:t>Критерий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1">
                          <a:solidFill>
                            <a:srgbClr val="FFFFFF"/>
                          </a:solidFill>
                          <a:latin typeface="Segoe UI"/>
                        </a:rPr>
                        <a:t>Redis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1">
                          <a:solidFill>
                            <a:srgbClr val="FFFFFF"/>
                          </a:solidFill>
                          <a:latin typeface="Segoe UI"/>
                        </a:rPr>
                        <a:t>RabbitMQ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1">
                          <a:solidFill>
                            <a:srgbClr val="FFFFFF"/>
                          </a:solidFill>
                          <a:latin typeface="Segoe UI"/>
                        </a:rPr>
                        <a:t>Kafka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</a:tr>
              <a:tr h="389656"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Модель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список / stream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AMQP: exchange → binding → queue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распределённый лог с партициями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9656"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Подтверждения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эмуляция (visibility timeout)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настоящие ack/nack, confirms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offset коммитится потребителем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89656"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Маршрутизация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нет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богатая (topic, fanout, headers)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по партициям/топикам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9656"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Сообщение после чтения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удаляется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удаляется после ack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1">
                          <a:solidFill>
                            <a:srgbClr val="1B2738"/>
                          </a:solidFill>
                          <a:latin typeface="Segoe UI"/>
                        </a:rPr>
                        <a:t>остаётся</a:t>
                      </a:r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, можно перечитать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89656"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Цена эксплуатации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минимальная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средняя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8" b="0">
                          <a:solidFill>
                            <a:srgbClr val="1B2738"/>
                          </a:solidFill>
                          <a:latin typeface="Segoe UI"/>
                        </a:rPr>
                        <a:t>высокая (ZK/KRaft, диски)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621133"/>
            <a:ext cx="11057839" cy="141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644"/>
              </a:spcAft>
              <a:buClr>
                <a:srgbClr val="2F6FED"/>
              </a:buClr>
              <a:buFont typeface="Arial"/>
              <a:buChar char="■"/>
            </a:pPr>
            <a:r>
              <a:rPr sz="1840" b="1">
                <a:solidFill>
                  <a:srgbClr val="1B2738"/>
                </a:solidFill>
                <a:latin typeface="Segoe UI"/>
              </a:rPr>
              <a:t>Kafka — это не очередь задач</a:t>
            </a:r>
            <a:r>
              <a:rPr sz="1840" b="0">
                <a:solidFill>
                  <a:srgbClr val="1B2738"/>
                </a:solidFill>
                <a:latin typeface="Segoe UI"/>
              </a:rPr>
              <a:t>: нет «взять одну задачу и подтвердить её», порядок держится внутри партиции, а параллелизм ограничен числом партиций. Её сила — история событий и replay.</a:t>
            </a:r>
          </a:p>
          <a:p>
            <a:pPr marL="237744" indent="-219456">
              <a:spcAft>
                <a:spcPts val="644"/>
              </a:spcAft>
              <a:buClr>
                <a:srgbClr val="2F6FED"/>
              </a:buClr>
              <a:buFont typeface="Arial"/>
              <a:buChar char="■"/>
            </a:pPr>
            <a:r>
              <a:rPr sz="1840" b="0">
                <a:solidFill>
                  <a:srgbClr val="1B2738"/>
                </a:solidFill>
                <a:latin typeface="Segoe UI"/>
              </a:rPr>
              <a:t>Практическое правило: </a:t>
            </a:r>
            <a:r>
              <a:rPr sz="1840" b="1">
                <a:solidFill>
                  <a:srgbClr val="1B2738"/>
                </a:solidFill>
                <a:latin typeface="Segoe UI"/>
              </a:rPr>
              <a:t>задача</a:t>
            </a:r>
            <a:r>
              <a:rPr sz="1840" b="0">
                <a:solidFill>
                  <a:srgbClr val="1B2738"/>
                </a:solidFill>
                <a:latin typeface="Segoe UI"/>
              </a:rPr>
              <a:t> → Redis/RabbitMQ; </a:t>
            </a:r>
            <a:r>
              <a:rPr sz="1840" b="1">
                <a:solidFill>
                  <a:srgbClr val="1B2738"/>
                </a:solidFill>
                <a:latin typeface="Segoe UI"/>
              </a:rPr>
              <a:t>событие, которое читают несколько систем и перечитывают позже</a:t>
            </a:r>
            <a:r>
              <a:rPr sz="1840" b="0">
                <a:solidFill>
                  <a:srgbClr val="1B2738"/>
                </a:solidFill>
                <a:latin typeface="Segoe UI"/>
              </a:rPr>
              <a:t> → Kafka.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Celery: архитектура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Де-факто стандарт фоновых задач в Python (с 2009 года)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73072"/>
            <a:ext cx="11057839" cy="2720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0">
                <a:solidFill>
                  <a:srgbClr val="1B2738"/>
                </a:solidFill>
                <a:latin typeface="Segoe UI"/>
              </a:rPr>
              <a:t>Пять сущностей: </a:t>
            </a:r>
            <a:r>
              <a:rPr sz="1500" b="1">
                <a:solidFill>
                  <a:srgbClr val="1B2738"/>
                </a:solidFill>
                <a:latin typeface="Segoe UI"/>
              </a:rPr>
              <a:t>app</a:t>
            </a:r>
            <a:r>
              <a:rPr sz="1500" b="0">
                <a:solidFill>
                  <a:srgbClr val="1B2738"/>
                </a:solidFill>
                <a:latin typeface="Segoe UI"/>
              </a:rPr>
              <a:t> (реестр задач и конфиг), </a:t>
            </a:r>
            <a:r>
              <a:rPr sz="1500" b="1">
                <a:solidFill>
                  <a:srgbClr val="1B2738"/>
                </a:solidFill>
                <a:latin typeface="Segoe UI"/>
              </a:rPr>
              <a:t>broker</a:t>
            </a:r>
            <a:r>
              <a:rPr sz="1500" b="0">
                <a:solidFill>
                  <a:srgbClr val="1B2738"/>
                </a:solidFill>
                <a:latin typeface="Segoe UI"/>
              </a:rPr>
              <a:t> (транспорт), </a:t>
            </a:r>
            <a:r>
              <a:rPr sz="1500" b="1">
                <a:solidFill>
                  <a:srgbClr val="1B2738"/>
                </a:solidFill>
                <a:latin typeface="Segoe UI"/>
              </a:rPr>
              <a:t>worker</a:t>
            </a:r>
            <a:r>
              <a:rPr sz="1500" b="0">
                <a:solidFill>
                  <a:srgbClr val="1B2738"/>
                </a:solidFill>
                <a:latin typeface="Segoe UI"/>
              </a:rPr>
              <a:t> (процесс-исполнитель), </a:t>
            </a:r>
            <a:r>
              <a:rPr sz="1500" b="1">
                <a:solidFill>
                  <a:srgbClr val="1B2738"/>
                </a:solidFill>
                <a:latin typeface="Segoe UI"/>
              </a:rPr>
              <a:t>result backend</a:t>
            </a:r>
            <a:r>
              <a:rPr sz="1500" b="0">
                <a:solidFill>
                  <a:srgbClr val="1B2738"/>
                </a:solidFill>
                <a:latin typeface="Segoe UI"/>
              </a:rPr>
              <a:t> (куда кладётся результат и статус), </a:t>
            </a:r>
            <a:r>
              <a:rPr sz="1500" b="1">
                <a:solidFill>
                  <a:srgbClr val="1B2738"/>
                </a:solidFill>
                <a:latin typeface="Segoe UI"/>
              </a:rPr>
              <a:t>beat</a:t>
            </a:r>
            <a:r>
              <a:rPr sz="1500" b="0">
                <a:solidFill>
                  <a:srgbClr val="1B2738"/>
                </a:solidFill>
                <a:latin typeface="Segoe UI"/>
              </a:rPr>
              <a:t> (планировщик периодических задач).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kombu</a:t>
            </a:r>
            <a:r>
              <a:rPr sz="1500" b="0">
                <a:solidFill>
                  <a:srgbClr val="1B2738"/>
                </a:solidFill>
                <a:latin typeface="Segoe UI"/>
              </a:rPr>
              <a:t> — слой абстракции транспорта: один и тот же код работает на RabbitMQ, Redis, SQS. В проекте брокер меняется переменной окружения </a:t>
            </a:r>
            <a:r>
              <a:rPr sz="1400" b="0">
                <a:solidFill>
                  <a:srgbClr val="E8590C"/>
                </a:solidFill>
                <a:latin typeface="Consolas"/>
              </a:rPr>
              <a:t>BROKER_URL</a:t>
            </a:r>
            <a:r>
              <a:rPr sz="1500" b="0">
                <a:solidFill>
                  <a:srgbClr val="1B2738"/>
                </a:solidFill>
                <a:latin typeface="Segoe UI"/>
              </a:rPr>
              <a:t>, код задач не меняется.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0">
                <a:solidFill>
                  <a:srgbClr val="1B2738"/>
                </a:solidFill>
                <a:latin typeface="Segoe UI"/>
              </a:rPr>
              <a:t>Задача — функция с декоратором; </a:t>
            </a:r>
            <a:r>
              <a:rPr sz="1400" b="0">
                <a:solidFill>
                  <a:srgbClr val="E8590C"/>
                </a:solidFill>
                <a:latin typeface="Consolas"/>
              </a:rPr>
              <a:t>task.delay(args)</a:t>
            </a:r>
            <a:r>
              <a:rPr sz="1500" b="0">
                <a:solidFill>
                  <a:srgbClr val="1B2738"/>
                </a:solidFill>
                <a:latin typeface="Segoe UI"/>
              </a:rPr>
              <a:t> публикует сообщение, </a:t>
            </a:r>
            <a:r>
              <a:rPr sz="1400" b="0">
                <a:solidFill>
                  <a:srgbClr val="E8590C"/>
                </a:solidFill>
                <a:latin typeface="Consolas"/>
              </a:rPr>
              <a:t>AsyncResult(id)</a:t>
            </a:r>
            <a:r>
              <a:rPr sz="1500" b="0">
                <a:solidFill>
                  <a:srgbClr val="1B2738"/>
                </a:solidFill>
                <a:latin typeface="Segoe UI"/>
              </a:rPr>
              <a:t> читает состояние.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Сериализация только JSON</a:t>
            </a:r>
            <a:r>
              <a:rPr sz="1500" b="0">
                <a:solidFill>
                  <a:srgbClr val="1B2738"/>
                </a:solidFill>
                <a:latin typeface="Segoe UI"/>
              </a:rPr>
              <a:t>: </a:t>
            </a:r>
            <a:r>
              <a:rPr sz="1400" b="0">
                <a:solidFill>
                  <a:srgbClr val="E8590C"/>
                </a:solidFill>
                <a:latin typeface="Consolas"/>
              </a:rPr>
              <a:t>pickle</a:t>
            </a:r>
            <a:r>
              <a:rPr sz="1500" b="0">
                <a:solidFill>
                  <a:srgbClr val="1B2738"/>
                </a:solidFill>
                <a:latin typeface="Segoe UI"/>
              </a:rPr>
              <a:t> — это исполнение произвольного кода при доступе к брокеру (RCE) и жёсткая привязка к версии классов.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0">
                <a:solidFill>
                  <a:srgbClr val="1B2738"/>
                </a:solidFill>
                <a:latin typeface="Segoe UI"/>
              </a:rPr>
              <a:t>Ловушка: </a:t>
            </a:r>
            <a:r>
              <a:rPr sz="1400" b="0">
                <a:solidFill>
                  <a:srgbClr val="E8590C"/>
                </a:solidFill>
                <a:latin typeface="Consolas"/>
              </a:rPr>
              <a:t>PENDING</a:t>
            </a:r>
            <a:r>
              <a:rPr sz="1500" b="0">
                <a:solidFill>
                  <a:srgbClr val="1B2738"/>
                </a:solidFill>
                <a:latin typeface="Segoe UI"/>
              </a:rPr>
              <a:t> означает «я про этот id ничего не знаю» — незапущенные задачи в result backend не хранятся. Отличить «в очереди» от «такого заказа нет» нельзя.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803140"/>
            <a:ext cx="11057839" cy="1215644"/>
          </a:xfrm>
          <a:prstGeom prst="rect">
            <a:avLst/>
          </a:prstGeom>
          <a:solidFill>
            <a:srgbClr val="F2F5FA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922012"/>
            <a:ext cx="10728655" cy="1215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1B2738"/>
                </a:solidFill>
                <a:latin typeface="Consolas"/>
              </a:rPr>
              <a:t>@app.task(bind=True, acks_late=True, time_limit=600)</a:t>
            </a:r>
          </a:p>
          <a:p>
            <a:r>
              <a:rPr sz="1100">
                <a:solidFill>
                  <a:srgbClr val="1B2738"/>
                </a:solidFill>
                <a:latin typeface="Consolas"/>
              </a:rPr>
              <a:t>def generate_report_task(self, report_id: str, params: dict) -&gt; dict:</a:t>
            </a:r>
          </a:p>
          <a:p>
            <a:r>
              <a:rPr sz="1100">
                <a:solidFill>
                  <a:srgbClr val="1B2738"/>
                </a:solidFill>
                <a:latin typeface="Consolas"/>
              </a:rPr>
              <a:t>    def progress(pct, step):</a:t>
            </a:r>
          </a:p>
          <a:p>
            <a:r>
              <a:rPr sz="1100">
                <a:solidFill>
                  <a:srgbClr val="1B2738"/>
                </a:solidFill>
                <a:latin typeface="Consolas"/>
              </a:rPr>
              <a:t>        self.update_state(state="PROGRESS", meta={"progress": pct, "step": step})</a:t>
            </a:r>
          </a:p>
          <a:p>
            <a:r>
              <a:rPr sz="1100">
                <a:solidFill>
                  <a:srgbClr val="1B2738"/>
                </a:solidFill>
                <a:latin typeface="Consolas"/>
              </a:rPr>
              <a:t>    return generate_report(report_id, ReportParams(**params), progress).model_dump()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Celery: настройки, которые меняют поведение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Умолчания — это архитектурные решения, принятые за вас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88969"/>
          <a:ext cx="11057837" cy="18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836"/>
                <a:gridCol w="1618220"/>
                <a:gridCol w="2607132"/>
                <a:gridCol w="3955649"/>
              </a:tblGrid>
              <a:tr h="370880">
                <a:tc>
                  <a:txBody>
                    <a:bodyPr wrap="square"/>
                    <a:lstStyle/>
                    <a:p>
                      <a:r>
                        <a:rPr sz="1176" b="1">
                          <a:solidFill>
                            <a:srgbClr val="FFFFFF"/>
                          </a:solidFill>
                          <a:latin typeface="Segoe UI"/>
                        </a:rPr>
                        <a:t>Настройка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1">
                          <a:solidFill>
                            <a:srgbClr val="FFFFFF"/>
                          </a:solidFill>
                          <a:latin typeface="Segoe UI"/>
                        </a:rPr>
                        <a:t>Умолчание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1">
                          <a:solidFill>
                            <a:srgbClr val="FFFFFF"/>
                          </a:solidFill>
                          <a:latin typeface="Segoe UI"/>
                        </a:rPr>
                        <a:t>Что делаем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1">
                          <a:solidFill>
                            <a:srgbClr val="FFFFFF"/>
                          </a:solidFill>
                          <a:latin typeface="Segoe UI"/>
                        </a:rPr>
                        <a:t>Почему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</a:tr>
              <a:tr h="370880">
                <a:tc>
                  <a:txBody>
                    <a:bodyPr wrap="square"/>
                    <a:lstStyle/>
                    <a:p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task_acks_late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падение воркера не теряет задачу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70880">
                <a:tc>
                  <a:txBody>
                    <a:bodyPr wrap="square"/>
                    <a:lstStyle/>
                    <a:p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worker_prefetch_multiplier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честное распределение между воркерами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70880">
                <a:tc>
                  <a:txBody>
                    <a:bodyPr wrap="square"/>
                    <a:lstStyle/>
                    <a:p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task_time_limit</a:t>
                      </a:r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 / </a:t>
                      </a:r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soft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нет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есть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зависшая задача не держит воркер вечно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70880">
                <a:tc>
                  <a:txBody>
                    <a:bodyPr wrap="square"/>
                    <a:lstStyle/>
                    <a:p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task_routes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одна очередь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reports</a:t>
                      </a:r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 / </a:t>
                      </a:r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notifications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тяжёлое не блокирует быстрое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017689"/>
            <a:ext cx="11057839" cy="2140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588"/>
              </a:spcAft>
              <a:buClr>
                <a:srgbClr val="2F6FED"/>
              </a:buClr>
              <a:buFont typeface="Arial"/>
              <a:buChar char="■"/>
            </a:pPr>
            <a:r>
              <a:rPr sz="1512" b="1">
                <a:solidFill>
                  <a:srgbClr val="1B2738"/>
                </a:solidFill>
                <a:latin typeface="Segoe UI"/>
              </a:rPr>
              <a:t>Пулы</a:t>
            </a:r>
            <a:r>
              <a:rPr sz="1512" b="0">
                <a:solidFill>
                  <a:srgbClr val="1B2738"/>
                </a:solidFill>
                <a:latin typeface="Segoe UI"/>
              </a:rPr>
              <a:t>: </a:t>
            </a:r>
            <a:r>
              <a:rPr sz="1412" b="0">
                <a:solidFill>
                  <a:srgbClr val="E8590C"/>
                </a:solidFill>
                <a:latin typeface="Consolas"/>
              </a:rPr>
              <a:t>prefork</a:t>
            </a:r>
            <a:r>
              <a:rPr sz="1512" b="0">
                <a:solidFill>
                  <a:srgbClr val="1B2738"/>
                </a:solidFill>
                <a:latin typeface="Segoe UI"/>
              </a:rPr>
              <a:t> (по умолчанию, процессы — для CPU), </a:t>
            </a:r>
            <a:r>
              <a:rPr sz="1412" b="0">
                <a:solidFill>
                  <a:srgbClr val="E8590C"/>
                </a:solidFill>
                <a:latin typeface="Consolas"/>
              </a:rPr>
              <a:t>threads</a:t>
            </a:r>
            <a:r>
              <a:rPr sz="1512" b="0">
                <a:solidFill>
                  <a:srgbClr val="1B2738"/>
                </a:solidFill>
                <a:latin typeface="Segoe UI"/>
              </a:rPr>
              <a:t>, </a:t>
            </a:r>
            <a:r>
              <a:rPr sz="1412" b="0">
                <a:solidFill>
                  <a:srgbClr val="E8590C"/>
                </a:solidFill>
                <a:latin typeface="Consolas"/>
              </a:rPr>
              <a:t>gevent</a:t>
            </a:r>
            <a:r>
              <a:rPr sz="1512" b="0">
                <a:solidFill>
                  <a:srgbClr val="1B2738"/>
                </a:solidFill>
                <a:latin typeface="Segoe UI"/>
              </a:rPr>
              <a:t>/</a:t>
            </a:r>
            <a:r>
              <a:rPr sz="1412" b="0">
                <a:solidFill>
                  <a:srgbClr val="E8590C"/>
                </a:solidFill>
                <a:latin typeface="Consolas"/>
              </a:rPr>
              <a:t>eventlet</a:t>
            </a:r>
            <a:r>
              <a:rPr sz="1512" b="0">
                <a:solidFill>
                  <a:srgbClr val="1B2738"/>
                </a:solidFill>
                <a:latin typeface="Segoe UI"/>
              </a:rPr>
              <a:t> (тысячи IO-задач на процесс), </a:t>
            </a:r>
            <a:r>
              <a:rPr sz="1412" b="0">
                <a:solidFill>
                  <a:srgbClr val="E8590C"/>
                </a:solidFill>
                <a:latin typeface="Consolas"/>
              </a:rPr>
              <a:t>solo</a:t>
            </a:r>
            <a:r>
              <a:rPr sz="1512" b="0">
                <a:solidFill>
                  <a:srgbClr val="1B2738"/>
                </a:solidFill>
                <a:latin typeface="Segoe UI"/>
              </a:rPr>
              <a:t> (один поток — отладка, Windows).</a:t>
            </a:r>
          </a:p>
          <a:p>
            <a:pPr marL="237744" indent="-219456">
              <a:spcAft>
                <a:spcPts val="588"/>
              </a:spcAft>
              <a:buClr>
                <a:srgbClr val="2F6FED"/>
              </a:buClr>
              <a:buFont typeface="Arial"/>
              <a:buChar char="■"/>
            </a:pPr>
            <a:r>
              <a:rPr sz="1512" b="1">
                <a:solidFill>
                  <a:srgbClr val="1B2738"/>
                </a:solidFill>
                <a:latin typeface="Segoe UI"/>
              </a:rPr>
              <a:t>Повторы</a:t>
            </a:r>
            <a:r>
              <a:rPr sz="1512" b="0">
                <a:solidFill>
                  <a:srgbClr val="1B2738"/>
                </a:solidFill>
                <a:latin typeface="Segoe UI"/>
              </a:rPr>
              <a:t>: </a:t>
            </a:r>
            <a:r>
              <a:rPr sz="1412" b="0">
                <a:solidFill>
                  <a:srgbClr val="E8590C"/>
                </a:solidFill>
                <a:latin typeface="Consolas"/>
              </a:rPr>
              <a:t>autoretry_for=(ConnectionError,)</a:t>
            </a:r>
            <a:r>
              <a:rPr sz="1512" b="0">
                <a:solidFill>
                  <a:srgbClr val="1B2738"/>
                </a:solidFill>
                <a:latin typeface="Segoe UI"/>
              </a:rPr>
              <a:t>, </a:t>
            </a:r>
            <a:r>
              <a:rPr sz="1412" b="0">
                <a:solidFill>
                  <a:srgbClr val="E8590C"/>
                </a:solidFill>
                <a:latin typeface="Consolas"/>
              </a:rPr>
              <a:t>retry_backoff=True</a:t>
            </a:r>
            <a:r>
              <a:rPr sz="1512" b="0">
                <a:solidFill>
                  <a:srgbClr val="1B2738"/>
                </a:solidFill>
                <a:latin typeface="Segoe UI"/>
              </a:rPr>
              <a:t>, </a:t>
            </a:r>
            <a:r>
              <a:rPr sz="1412" b="0">
                <a:solidFill>
                  <a:srgbClr val="E8590C"/>
                </a:solidFill>
                <a:latin typeface="Consolas"/>
              </a:rPr>
              <a:t>retry_jitter</a:t>
            </a:r>
            <a:r>
              <a:rPr sz="1512" b="0">
                <a:solidFill>
                  <a:srgbClr val="1B2738"/>
                </a:solidFill>
                <a:latin typeface="Segoe UI"/>
              </a:rPr>
              <a:t> — без jitter все повторы придут одновременно и добьют внешний сервис.</a:t>
            </a:r>
          </a:p>
          <a:p>
            <a:pPr marL="237744" indent="-219456">
              <a:spcAft>
                <a:spcPts val="588"/>
              </a:spcAft>
              <a:buClr>
                <a:srgbClr val="2F6FED"/>
              </a:buClr>
              <a:buFont typeface="Arial"/>
              <a:buChar char="■"/>
            </a:pPr>
            <a:r>
              <a:rPr sz="1412" b="1">
                <a:solidFill>
                  <a:srgbClr val="E8590C"/>
                </a:solidFill>
                <a:latin typeface="Consolas"/>
              </a:rPr>
              <a:t>rate_limit</a:t>
            </a:r>
            <a:r>
              <a:rPr sz="1512" b="0">
                <a:solidFill>
                  <a:srgbClr val="1B2738"/>
                </a:solidFill>
                <a:latin typeface="Segoe UI"/>
              </a:rPr>
              <a:t> ограничивает частоту — обязательная вещь при работе с чужим API.</a:t>
            </a:r>
          </a:p>
          <a:p>
            <a:pPr marL="237744" indent="-219456">
              <a:spcAft>
                <a:spcPts val="588"/>
              </a:spcAft>
              <a:buClr>
                <a:srgbClr val="2F6FED"/>
              </a:buClr>
              <a:buFont typeface="Arial"/>
              <a:buChar char="■"/>
            </a:pPr>
            <a:r>
              <a:rPr sz="1412" b="0">
                <a:solidFill>
                  <a:srgbClr val="E8590C"/>
                </a:solidFill>
                <a:latin typeface="Consolas"/>
              </a:rPr>
              <a:t>worker_max_tasks_per_child</a:t>
            </a:r>
            <a:r>
              <a:rPr sz="1512" b="0">
                <a:solidFill>
                  <a:srgbClr val="1B2738"/>
                </a:solidFill>
                <a:latin typeface="Segoe UI"/>
              </a:rPr>
              <a:t> — перезапуск процесса каждые N задач: дёшевый способ пережить утечки памяти в чужих библиотеках.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Celery canvas: композиция задач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Пайплайны декларативно, без ручного связывания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550033"/>
            <a:ext cx="11057839" cy="2946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50" b="0">
                <a:solidFill>
                  <a:srgbClr val="E8590C"/>
                </a:solidFill>
                <a:latin typeface="Consolas"/>
              </a:rPr>
              <a:t>signature</a:t>
            </a:r>
            <a:r>
              <a:rPr sz="1650" b="0">
                <a:solidFill>
                  <a:srgbClr val="1B2738"/>
                </a:solidFill>
                <a:latin typeface="Segoe UI"/>
              </a:rPr>
              <a:t> — «замороженный» вызов задачи, который можно передавать и комбинировать.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50" b="1">
                <a:solidFill>
                  <a:srgbClr val="E8590C"/>
                </a:solidFill>
                <a:latin typeface="Consolas"/>
              </a:rPr>
              <a:t>chain</a:t>
            </a:r>
            <a:r>
              <a:rPr sz="1650" b="0">
                <a:solidFill>
                  <a:srgbClr val="1B2738"/>
                </a:solidFill>
                <a:latin typeface="Segoe UI"/>
              </a:rPr>
              <a:t>: </a:t>
            </a:r>
            <a:r>
              <a:rPr sz="1550" b="0">
                <a:solidFill>
                  <a:srgbClr val="E8590C"/>
                </a:solidFill>
                <a:latin typeface="Consolas"/>
              </a:rPr>
              <a:t>fetch | aggregate | render</a:t>
            </a:r>
            <a:r>
              <a:rPr sz="1650" b="0">
                <a:solidFill>
                  <a:srgbClr val="1B2738"/>
                </a:solidFill>
                <a:latin typeface="Segoe UI"/>
              </a:rPr>
              <a:t> — результат предыдущей уходит аргументом в следующую (в проекте: отчёт → уведомление).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50" b="1">
                <a:solidFill>
                  <a:srgbClr val="E8590C"/>
                </a:solidFill>
                <a:latin typeface="Consolas"/>
              </a:rPr>
              <a:t>group</a:t>
            </a:r>
            <a:r>
              <a:rPr sz="1650" b="0">
                <a:solidFill>
                  <a:srgbClr val="1B2738"/>
                </a:solidFill>
                <a:latin typeface="Segoe UI"/>
              </a:rPr>
              <a:t> — параллельный запуск N задач; </a:t>
            </a:r>
            <a:r>
              <a:rPr sz="1550" b="1">
                <a:solidFill>
                  <a:srgbClr val="E8590C"/>
                </a:solidFill>
                <a:latin typeface="Consolas"/>
              </a:rPr>
              <a:t>chord</a:t>
            </a:r>
            <a:r>
              <a:rPr sz="1650" b="0">
                <a:solidFill>
                  <a:srgbClr val="1B2738"/>
                </a:solidFill>
                <a:latin typeface="Segoe UI"/>
              </a:rPr>
              <a:t> — </a:t>
            </a:r>
            <a:r>
              <a:rPr sz="1550" b="0">
                <a:solidFill>
                  <a:srgbClr val="E8590C"/>
                </a:solidFill>
                <a:latin typeface="Consolas"/>
              </a:rPr>
              <a:t>group</a:t>
            </a:r>
            <a:r>
              <a:rPr sz="1650" b="0">
                <a:solidFill>
                  <a:srgbClr val="1B2738"/>
                </a:solidFill>
                <a:latin typeface="Segoe UI"/>
              </a:rPr>
              <a:t> + завершающая задача, которая получает список результатов (в проекте: пакет из N отчётов → сводка).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50" b="0">
                <a:solidFill>
                  <a:srgbClr val="E8590C"/>
                </a:solidFill>
                <a:latin typeface="Consolas"/>
              </a:rPr>
              <a:t>map</a:t>
            </a:r>
            <a:r>
              <a:rPr sz="1650" b="0">
                <a:solidFill>
                  <a:srgbClr val="1B2738"/>
                </a:solidFill>
                <a:latin typeface="Segoe UI"/>
              </a:rPr>
              <a:t> / </a:t>
            </a:r>
            <a:r>
              <a:rPr sz="1550" b="0">
                <a:solidFill>
                  <a:srgbClr val="E8590C"/>
                </a:solidFill>
                <a:latin typeface="Consolas"/>
              </a:rPr>
              <a:t>starmap</a:t>
            </a:r>
            <a:r>
              <a:rPr sz="1650" b="0">
                <a:solidFill>
                  <a:srgbClr val="1B2738"/>
                </a:solidFill>
                <a:latin typeface="Segoe UI"/>
              </a:rPr>
              <a:t> / </a:t>
            </a:r>
            <a:r>
              <a:rPr sz="1550" b="0">
                <a:solidFill>
                  <a:srgbClr val="E8590C"/>
                </a:solidFill>
                <a:latin typeface="Consolas"/>
              </a:rPr>
              <a:t>chunks</a:t>
            </a:r>
            <a:r>
              <a:rPr sz="1650" b="0">
                <a:solidFill>
                  <a:srgbClr val="1B2738"/>
                </a:solidFill>
                <a:latin typeface="Segoe UI"/>
              </a:rPr>
              <a:t> — для массовой обработки однотипных элементов одной задачей.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Когда canvas — плохая идея</a:t>
            </a:r>
            <a:r>
              <a:rPr sz="1650" b="0">
                <a:solidFill>
                  <a:srgbClr val="1B2738"/>
                </a:solidFill>
                <a:latin typeface="Segoe UI"/>
              </a:rPr>
              <a:t>: длинные цепочки с ветвлением и условиями превращаются в неотлаживаемый граф; chord на Redis требует синхронизации и умеет «залипать»; состояние процесса не видно целиком. Для бизнес-процессов с компенсациями лучше workflow-движок (Temporal, Prefect).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RQ: минимализм как принцип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Redis Queue — весь фреймворк читается за вечер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69414"/>
            <a:ext cx="11057839" cy="272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0">
                <a:solidFill>
                  <a:srgbClr val="1B2738"/>
                </a:solidFill>
                <a:latin typeface="Segoe UI"/>
              </a:rPr>
              <a:t>Три сущности: </a:t>
            </a:r>
            <a:r>
              <a:rPr sz="1400" b="0">
                <a:solidFill>
                  <a:srgbClr val="E8590C"/>
                </a:solidFill>
                <a:latin typeface="Consolas"/>
              </a:rPr>
              <a:t>Queue</a:t>
            </a:r>
            <a:r>
              <a:rPr sz="1500" b="0">
                <a:solidFill>
                  <a:srgbClr val="1B2738"/>
                </a:solidFill>
                <a:latin typeface="Segoe UI"/>
              </a:rPr>
              <a:t>, </a:t>
            </a:r>
            <a:r>
              <a:rPr sz="1400" b="0">
                <a:solidFill>
                  <a:srgbClr val="E8590C"/>
                </a:solidFill>
                <a:latin typeface="Consolas"/>
              </a:rPr>
              <a:t>Job</a:t>
            </a:r>
            <a:r>
              <a:rPr sz="1500" b="0">
                <a:solidFill>
                  <a:srgbClr val="1B2738"/>
                </a:solidFill>
                <a:latin typeface="Segoe UI"/>
              </a:rPr>
              <a:t>, </a:t>
            </a:r>
            <a:r>
              <a:rPr sz="1400" b="0">
                <a:solidFill>
                  <a:srgbClr val="E8590C"/>
                </a:solidFill>
                <a:latin typeface="Consolas"/>
              </a:rPr>
              <a:t>Worker</a:t>
            </a:r>
            <a:r>
              <a:rPr sz="1500" b="0">
                <a:solidFill>
                  <a:srgbClr val="1B2738"/>
                </a:solidFill>
                <a:latin typeface="Segoe UI"/>
              </a:rPr>
              <a:t>. Постановка — </a:t>
            </a:r>
            <a:r>
              <a:rPr sz="1400" b="0">
                <a:solidFill>
                  <a:srgbClr val="E8590C"/>
                </a:solidFill>
                <a:latin typeface="Consolas"/>
              </a:rPr>
              <a:t>queue.enqueue(func, *args)</a:t>
            </a:r>
            <a:r>
              <a:rPr sz="1500" b="0">
                <a:solidFill>
                  <a:srgbClr val="1B2738"/>
                </a:solidFill>
                <a:latin typeface="Segoe UI"/>
              </a:rPr>
              <a:t>, никаких декораторов и реестра задач.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Fork на каждую задачу</a:t>
            </a:r>
            <a:r>
              <a:rPr sz="1500" b="0">
                <a:solidFill>
                  <a:srgbClr val="1B2738"/>
                </a:solidFill>
                <a:latin typeface="Segoe UI"/>
              </a:rPr>
              <a:t>: воркер порождает дочерний процесс, задача выполняется там. Падение, утечка памяти, </a:t>
            </a:r>
            <a:r>
              <a:rPr sz="1400" b="0">
                <a:solidFill>
                  <a:srgbClr val="E8590C"/>
                </a:solidFill>
                <a:latin typeface="Consolas"/>
              </a:rPr>
              <a:t>segfault</a:t>
            </a:r>
            <a:r>
              <a:rPr sz="1500" b="0">
                <a:solidFill>
                  <a:srgbClr val="1B2738"/>
                </a:solidFill>
                <a:latin typeface="Segoe UI"/>
              </a:rPr>
              <a:t> в задаче не трогают воркер и следующие задачи.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0">
                <a:solidFill>
                  <a:srgbClr val="1B2738"/>
                </a:solidFill>
                <a:latin typeface="Segoe UI"/>
              </a:rPr>
              <a:t>Честные статусы: </a:t>
            </a:r>
            <a:r>
              <a:rPr sz="1400" b="0">
                <a:solidFill>
                  <a:srgbClr val="E8590C"/>
                </a:solidFill>
                <a:latin typeface="Consolas"/>
              </a:rPr>
              <a:t>queued / started / deferred / scheduled / finished / failed</a:t>
            </a:r>
            <a:r>
              <a:rPr sz="1500" b="0">
                <a:solidFill>
                  <a:srgbClr val="1B2738"/>
                </a:solidFill>
                <a:latin typeface="Segoe UI"/>
              </a:rPr>
              <a:t> + </a:t>
            </a:r>
            <a:r>
              <a:rPr sz="1400" b="0">
                <a:solidFill>
                  <a:srgbClr val="E8590C"/>
                </a:solidFill>
                <a:latin typeface="Consolas"/>
              </a:rPr>
              <a:t>Job.fetch(id)</a:t>
            </a:r>
            <a:r>
              <a:rPr sz="1500" b="0">
                <a:solidFill>
                  <a:srgbClr val="1B2738"/>
                </a:solidFill>
                <a:latin typeface="Segoe UI"/>
              </a:rPr>
              <a:t> → можно отличить «нет такого заказа» и вернуть 404 (Celery так не умеет).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400" b="0">
                <a:solidFill>
                  <a:srgbClr val="E8590C"/>
                </a:solidFill>
                <a:latin typeface="Consolas"/>
              </a:rPr>
              <a:t>Retry(max=3, interval=[1, 2, 4])</a:t>
            </a:r>
            <a:r>
              <a:rPr sz="1500" b="0">
                <a:solidFill>
                  <a:srgbClr val="1B2738"/>
                </a:solidFill>
                <a:latin typeface="Segoe UI"/>
              </a:rPr>
              <a:t>, </a:t>
            </a:r>
            <a:r>
              <a:rPr sz="1400" b="0">
                <a:solidFill>
                  <a:srgbClr val="E8590C"/>
                </a:solidFill>
                <a:latin typeface="Consolas"/>
              </a:rPr>
              <a:t>depends_on</a:t>
            </a:r>
            <a:r>
              <a:rPr sz="1500" b="0">
                <a:solidFill>
                  <a:srgbClr val="1B2738"/>
                </a:solidFill>
                <a:latin typeface="Segoe UI"/>
              </a:rPr>
              <a:t> (задача стартует после успеха другой), </a:t>
            </a:r>
            <a:r>
              <a:rPr sz="1400" b="0">
                <a:solidFill>
                  <a:srgbClr val="E8590C"/>
                </a:solidFill>
                <a:latin typeface="Consolas"/>
              </a:rPr>
              <a:t>job.meta</a:t>
            </a:r>
            <a:r>
              <a:rPr sz="1500" b="0">
                <a:solidFill>
                  <a:srgbClr val="1B2738"/>
                </a:solidFill>
                <a:latin typeface="Segoe UI"/>
              </a:rPr>
              <a:t> для прогресса, failed job registry для разбора ошибок.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Ограничения</a:t>
            </a:r>
            <a:r>
              <a:rPr sz="1500" b="0">
                <a:solidFill>
                  <a:srgbClr val="1B2738"/>
                </a:solidFill>
                <a:latin typeface="Segoe UI"/>
              </a:rPr>
              <a:t>: только Redis; нет canvas (chord собирается вручную); не работает на Windows (нужен </a:t>
            </a:r>
            <a:r>
              <a:rPr sz="1400" b="0">
                <a:solidFill>
                  <a:srgbClr val="E8590C"/>
                </a:solidFill>
                <a:latin typeface="Consolas"/>
              </a:rPr>
              <a:t>fork</a:t>
            </a:r>
            <a:r>
              <a:rPr sz="1500" b="0">
                <a:solidFill>
                  <a:srgbClr val="1B2738"/>
                </a:solidFill>
                <a:latin typeface="Segoe UI"/>
              </a:rPr>
              <a:t>); отложенные повторы требуют воркера с </a:t>
            </a:r>
            <a:r>
              <a:rPr sz="1400" b="0">
                <a:solidFill>
                  <a:srgbClr val="E8590C"/>
                </a:solidFill>
                <a:latin typeface="Consolas"/>
              </a:rPr>
              <a:t>--with-scheduler</a:t>
            </a:r>
            <a:r>
              <a:rPr sz="1500" b="0">
                <a:solidFill>
                  <a:srgbClr val="1B2738"/>
                </a:solidFill>
                <a:latin typeface="Segoe U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999481"/>
            <a:ext cx="11057839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999481"/>
            <a:ext cx="63500" cy="8229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127497"/>
            <a:ext cx="106006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B2738"/>
                </a:solidFill>
                <a:latin typeface="Segoe UI"/>
              </a:rPr>
              <a:t>Цена изоляции: </a:t>
            </a:r>
            <a:r>
              <a:rPr sz="1500" b="0">
                <a:solidFill>
                  <a:srgbClr val="E8590C"/>
                </a:solidFill>
                <a:latin typeface="Consolas"/>
              </a:rPr>
              <a:t>fork</a:t>
            </a:r>
            <a:r>
              <a:rPr sz="1600" b="0">
                <a:solidFill>
                  <a:srgbClr val="1B2738"/>
                </a:solidFill>
                <a:latin typeface="Segoe UI"/>
              </a:rPr>
              <a:t> ≈ 72 мс на задачу в Docker Desktop — на микрозадачах это в 23 раза медленнее Celery. </a:t>
            </a:r>
            <a:r>
              <a:rPr sz="1500" b="0">
                <a:solidFill>
                  <a:srgbClr val="E8590C"/>
                </a:solidFill>
                <a:latin typeface="Consolas"/>
              </a:rPr>
              <a:t>SimpleWorker</a:t>
            </a:r>
            <a:r>
              <a:rPr sz="1600" b="0">
                <a:solidFill>
                  <a:srgbClr val="1B2738"/>
                </a:solidFill>
                <a:latin typeface="Segoe UI"/>
              </a:rPr>
              <a:t> убирает цену вместе с изоляцией.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Современные альтернативы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Celery и RQ — не единственный выбор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38858"/>
          <a:ext cx="11057838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226"/>
                <a:gridCol w="5172215"/>
                <a:gridCol w="3745397"/>
              </a:tblGrid>
              <a:tr h="3749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Инструмент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Чем интересен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Когда брать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738"/>
                          </a:solidFill>
                          <a:latin typeface="Segoe UI"/>
                        </a:rPr>
                        <a:t>Dramatiq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8"/>
                          </a:solidFill>
                          <a:latin typeface="Segoe UI"/>
                        </a:rPr>
                        <a:t>простой API, надёжность «из коробки», RabbitMQ/Redis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8"/>
                          </a:solidFill>
                          <a:latin typeface="Segoe UI"/>
                        </a:rPr>
                        <a:t>нужен Celery без его сложности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738"/>
                          </a:solidFill>
                          <a:latin typeface="Segoe UI"/>
                        </a:rPr>
                        <a:t>arq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8"/>
                          </a:solidFill>
                          <a:latin typeface="Segoe UI"/>
                        </a:rPr>
                        <a:t>asyncio-native, один Redis, минимум кода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8"/>
                          </a:solidFill>
                          <a:latin typeface="Segoe UI"/>
                        </a:rPr>
                        <a:t>приложение целиком на asyncio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738"/>
                          </a:solidFill>
                          <a:latin typeface="Segoe UI"/>
                        </a:rPr>
                        <a:t>Taskiq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8"/>
                          </a:solidFill>
                          <a:latin typeface="Segoe UI"/>
                        </a:rPr>
                        <a:t>asyncio, типизация, DI в стиле FastAPI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8"/>
                          </a:solidFill>
                          <a:latin typeface="Segoe UI"/>
                        </a:rPr>
                        <a:t>FastAPI-проект, важны типы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738"/>
                          </a:solidFill>
                          <a:latin typeface="Segoe UI"/>
                        </a:rPr>
                        <a:t>Huey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8"/>
                          </a:solidFill>
                          <a:latin typeface="Segoe UI"/>
                        </a:rPr>
                        <a:t>очень маленький, есть SQLite-режим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8"/>
                          </a:solidFill>
                          <a:latin typeface="Segoe UI"/>
                        </a:rPr>
                        <a:t>небольшой сервис, не хочется брокера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738"/>
                          </a:solidFill>
                          <a:latin typeface="Segoe UI"/>
                        </a:rPr>
                        <a:t>APScheduler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8"/>
                          </a:solidFill>
                          <a:latin typeface="Segoe UI"/>
                        </a:rPr>
                        <a:t>планировщик, а не очередь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8"/>
                          </a:solidFill>
                          <a:latin typeface="Segoe UI"/>
                        </a:rPr>
                        <a:t>только периодические задания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738"/>
                          </a:solidFill>
                          <a:latin typeface="Segoe UI"/>
                        </a:rPr>
                        <a:t>Temporal / Prefect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8"/>
                          </a:solidFill>
                          <a:latin typeface="Segoe UI"/>
                        </a:rPr>
                        <a:t>долгие workflow, состояние, компенсации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738"/>
                          </a:solidFill>
                          <a:latin typeface="Segoe UI"/>
                        </a:rPr>
                        <a:t>бизнес-процессы на часы и дни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737506"/>
            <a:ext cx="11057839" cy="147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672"/>
              </a:spcAft>
              <a:buClr>
                <a:srgbClr val="2F6FED"/>
              </a:buClr>
              <a:buFont typeface="Arial"/>
              <a:buChar char="■"/>
            </a:pPr>
            <a:r>
              <a:rPr sz="1820" b="1">
                <a:solidFill>
                  <a:srgbClr val="E8590C"/>
                </a:solidFill>
                <a:latin typeface="Consolas"/>
              </a:rPr>
              <a:t>FastAPI BackgroundTasks</a:t>
            </a:r>
            <a:r>
              <a:rPr sz="1920" b="0">
                <a:solidFill>
                  <a:srgbClr val="1B2738"/>
                </a:solidFill>
                <a:latin typeface="Segoe UI"/>
              </a:rPr>
              <a:t> — выполнение после ответа </a:t>
            </a:r>
            <a:r>
              <a:rPr sz="1920" b="1">
                <a:solidFill>
                  <a:srgbClr val="1B2738"/>
                </a:solidFill>
                <a:latin typeface="Segoe UI"/>
              </a:rPr>
              <a:t>в том же процессе</a:t>
            </a:r>
            <a:r>
              <a:rPr sz="1920" b="0">
                <a:solidFill>
                  <a:srgbClr val="1B2738"/>
                </a:solidFill>
                <a:latin typeface="Segoe UI"/>
              </a:rPr>
              <a:t>: подходит для «отправить письмо, не страшно потерять»; переживания перезапуска нет, масштабирования нет.</a:t>
            </a:r>
          </a:p>
          <a:p>
            <a:pPr marL="237744" indent="-219456">
              <a:spcAft>
                <a:spcPts val="672"/>
              </a:spcAft>
              <a:buClr>
                <a:srgbClr val="2F6FED"/>
              </a:buClr>
              <a:buFont typeface="Arial"/>
              <a:buChar char="■"/>
            </a:pPr>
            <a:r>
              <a:rPr sz="1920" b="0">
                <a:solidFill>
                  <a:srgbClr val="1B2738"/>
                </a:solidFill>
                <a:latin typeface="Segoe UI"/>
              </a:rPr>
              <a:t>Celery остаётся выбором по умолчанию из-за экосистемы (Flower, интеграции, ответы на все вопросы), а не потому, что он лучший технически.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Распределённая обработка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Масштабирование очередью и его отказы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99335"/>
            <a:ext cx="11057839" cy="34480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Горизонтально</a:t>
            </a:r>
            <a:r>
              <a:rPr sz="1500" b="0">
                <a:solidFill>
                  <a:srgbClr val="1B2738"/>
                </a:solidFill>
                <a:latin typeface="Segoe UI"/>
              </a:rPr>
              <a:t>: добавить воркер = запустить ещё один процесс. Координации нет — раздаёт брокер. В эксперименте 1 → 4 воркера дали ускорение </a:t>
            </a:r>
            <a:r>
              <a:rPr sz="1500" b="1">
                <a:solidFill>
                  <a:srgbClr val="1B2738"/>
                </a:solidFill>
                <a:latin typeface="Segoe UI"/>
              </a:rPr>
              <a:t>×3,0–4,1</a:t>
            </a:r>
            <a:r>
              <a:rPr sz="1500" b="0">
                <a:solidFill>
                  <a:srgbClr val="1B2738"/>
                </a:solidFill>
                <a:latin typeface="Segoe UI"/>
              </a:rPr>
              <a:t> на всех видах задач.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Разделение по очередям</a:t>
            </a:r>
            <a:r>
              <a:rPr sz="1500" b="0">
                <a:solidFill>
                  <a:srgbClr val="1B2738"/>
                </a:solidFill>
                <a:latin typeface="Segoe UI"/>
              </a:rPr>
              <a:t> вместо приоритетов: </a:t>
            </a:r>
            <a:r>
              <a:rPr sz="1400" b="0">
                <a:solidFill>
                  <a:srgbClr val="E8590C"/>
                </a:solidFill>
                <a:latin typeface="Consolas"/>
              </a:rPr>
              <a:t>reports</a:t>
            </a:r>
            <a:r>
              <a:rPr sz="1500" b="0">
                <a:solidFill>
                  <a:srgbClr val="1B2738"/>
                </a:solidFill>
                <a:latin typeface="Segoe UI"/>
              </a:rPr>
              <a:t> (тяжёлые, CPU) и </a:t>
            </a:r>
            <a:r>
              <a:rPr sz="1400" b="0">
                <a:solidFill>
                  <a:srgbClr val="E8590C"/>
                </a:solidFill>
                <a:latin typeface="Consolas"/>
              </a:rPr>
              <a:t>notifications</a:t>
            </a:r>
            <a:r>
              <a:rPr sz="1500" b="0">
                <a:solidFill>
                  <a:srgbClr val="1B2738"/>
                </a:solidFill>
                <a:latin typeface="Segoe UI"/>
              </a:rPr>
              <a:t> (быстрые, IO) — разные воркеры, разное число реплик, отказ одной очереди не блокирует другую.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Шардирование по ключу</a:t>
            </a:r>
            <a:r>
              <a:rPr sz="1500" b="0">
                <a:solidFill>
                  <a:srgbClr val="1B2738"/>
                </a:solidFill>
                <a:latin typeface="Segoe UI"/>
              </a:rPr>
              <a:t>, когда важен порядок внутри сущности: все задачи одного клиента — в одну очередь/на один воркер.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0">
                <a:solidFill>
                  <a:srgbClr val="1B2738"/>
                </a:solidFill>
                <a:latin typeface="Segoe UI"/>
              </a:rPr>
              <a:t>Отказы, к которым надо быть готовым:</a:t>
            </a:r>
          </a:p>
          <a:p>
            <a:pPr marL="566928" indent="-219456">
              <a:spcAft>
                <a:spcPts val="400"/>
              </a:spcAft>
              <a:buClr>
                <a:srgbClr val="E8590C"/>
              </a:buClr>
              <a:buFont typeface="Arial"/>
              <a:buChar char="–"/>
            </a:pPr>
            <a:r>
              <a:rPr sz="1250" b="1">
                <a:solidFill>
                  <a:srgbClr val="1B2738"/>
                </a:solidFill>
                <a:latin typeface="Segoe UI"/>
              </a:rPr>
              <a:t>дубли</a:t>
            </a:r>
            <a:r>
              <a:rPr sz="1250" b="0">
                <a:solidFill>
                  <a:srgbClr val="5B6B7C"/>
                </a:solidFill>
                <a:latin typeface="Segoe UI"/>
              </a:rPr>
              <a:t> (at-least-once) → идемпотентность;</a:t>
            </a:r>
          </a:p>
          <a:p>
            <a:pPr marL="566928" indent="-219456">
              <a:spcAft>
                <a:spcPts val="400"/>
              </a:spcAft>
              <a:buClr>
                <a:srgbClr val="E8590C"/>
              </a:buClr>
              <a:buFont typeface="Arial"/>
              <a:buChar char="–"/>
            </a:pPr>
            <a:r>
              <a:rPr sz="1250" b="1">
                <a:solidFill>
                  <a:srgbClr val="1B2738"/>
                </a:solidFill>
                <a:latin typeface="Segoe UI"/>
              </a:rPr>
              <a:t>poison message</a:t>
            </a:r>
            <a:r>
              <a:rPr sz="1250" b="0">
                <a:solidFill>
                  <a:srgbClr val="5B6B7C"/>
                </a:solidFill>
                <a:latin typeface="Segoe UI"/>
              </a:rPr>
              <a:t> → счётчик попыток и dead-letter;</a:t>
            </a:r>
          </a:p>
          <a:p>
            <a:pPr marL="566928" indent="-219456">
              <a:spcAft>
                <a:spcPts val="400"/>
              </a:spcAft>
              <a:buClr>
                <a:srgbClr val="E8590C"/>
              </a:buClr>
              <a:buFont typeface="Arial"/>
              <a:buChar char="–"/>
            </a:pPr>
            <a:r>
              <a:rPr sz="1250" b="1">
                <a:solidFill>
                  <a:srgbClr val="1B2738"/>
                </a:solidFill>
                <a:latin typeface="Segoe UI"/>
              </a:rPr>
              <a:t>сетевой разрыв</a:t>
            </a:r>
            <a:r>
              <a:rPr sz="1250" b="0">
                <a:solidFill>
                  <a:srgbClr val="5B6B7C"/>
                </a:solidFill>
                <a:latin typeface="Segoe UI"/>
              </a:rPr>
              <a:t> → переподключение, повторная доставка неподтверждённых;</a:t>
            </a:r>
          </a:p>
          <a:p>
            <a:pPr marL="566928" indent="-219456">
              <a:spcAft>
                <a:spcPts val="400"/>
              </a:spcAft>
              <a:buClr>
                <a:srgbClr val="E8590C"/>
              </a:buClr>
              <a:buFont typeface="Arial"/>
              <a:buChar char="–"/>
            </a:pPr>
            <a:r>
              <a:rPr sz="1250" b="1">
                <a:solidFill>
                  <a:srgbClr val="1B2738"/>
                </a:solidFill>
                <a:latin typeface="Segoe UI"/>
              </a:rPr>
              <a:t>«горячая» очередь</a:t>
            </a:r>
            <a:r>
              <a:rPr sz="1250" b="0">
                <a:solidFill>
                  <a:srgbClr val="5B6B7C"/>
                </a:solidFill>
                <a:latin typeface="Segoe UI"/>
              </a:rPr>
              <a:t> → автоскейл по длине очереди, а не по CPU;</a:t>
            </a:r>
          </a:p>
          <a:p>
            <a:pPr marL="566928" indent="-219456">
              <a:spcAft>
                <a:spcPts val="400"/>
              </a:spcAft>
              <a:buClr>
                <a:srgbClr val="E8590C"/>
              </a:buClr>
              <a:buFont typeface="Arial"/>
              <a:buChar char="–"/>
            </a:pPr>
            <a:r>
              <a:rPr sz="1250" b="1">
                <a:solidFill>
                  <a:srgbClr val="1B2738"/>
                </a:solidFill>
                <a:latin typeface="Segoe UI"/>
              </a:rPr>
              <a:t>отравленный воркер</a:t>
            </a:r>
            <a:r>
              <a:rPr sz="1250" b="0">
                <a:solidFill>
                  <a:srgbClr val="5B6B7C"/>
                </a:solidFill>
                <a:latin typeface="Segoe UI"/>
              </a:rPr>
              <a:t> (утечка памяти) → </a:t>
            </a:r>
            <a:r>
              <a:rPr sz="1150" b="0">
                <a:solidFill>
                  <a:srgbClr val="E8590C"/>
                </a:solidFill>
                <a:latin typeface="Consolas"/>
              </a:rPr>
              <a:t>max_tasks_per_child</a:t>
            </a:r>
            <a:r>
              <a:rPr sz="1250" b="0">
                <a:solidFill>
                  <a:srgbClr val="5B6B7C"/>
                </a:solidFill>
                <a:latin typeface="Segoe UI"/>
              </a:rPr>
              <a:t> / fork.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Где подход не работает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Честные границы применимости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91740"/>
            <a:ext cx="11057839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Транзакционность.</a:t>
            </a:r>
            <a:r>
              <a:rPr sz="1500" b="0">
                <a:solidFill>
                  <a:srgbClr val="1B2738"/>
                </a:solidFill>
                <a:latin typeface="Segoe UI"/>
              </a:rPr>
              <a:t> «Записать в БД и поставить задачу» — не атомарно: задача может стартовать раньше commit'а или потеряться при откате. Решение — </a:t>
            </a:r>
            <a:r>
              <a:rPr sz="1500" b="1">
                <a:solidFill>
                  <a:srgbClr val="1B2738"/>
                </a:solidFill>
                <a:latin typeface="Segoe UI"/>
              </a:rPr>
              <a:t>transactional outbox</a:t>
            </a:r>
            <a:r>
              <a:rPr sz="1500" b="0">
                <a:solidFill>
                  <a:srgbClr val="1B2738"/>
                </a:solidFill>
                <a:latin typeface="Segoe UI"/>
              </a:rPr>
              <a:t>: задача пишется в ту же БД, отдельный процесс публикует.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Строгий порядок.</a:t>
            </a:r>
            <a:r>
              <a:rPr sz="1500" b="0">
                <a:solidFill>
                  <a:srgbClr val="1B2738"/>
                </a:solidFill>
                <a:latin typeface="Segoe UI"/>
              </a:rPr>
              <a:t> Несколько воркеров = порядка нет; повтор отправляет сообщение в конец очереди. Нужен порядок — один потребитель на ключ или Kafka с партициями.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Долгие задачи на Redis.</a:t>
            </a:r>
            <a:r>
              <a:rPr sz="1500" b="0">
                <a:solidFill>
                  <a:srgbClr val="1B2738"/>
                </a:solidFill>
                <a:latin typeface="Segoe UI"/>
              </a:rPr>
              <a:t> </a:t>
            </a:r>
            <a:r>
              <a:rPr sz="1400" b="0">
                <a:solidFill>
                  <a:srgbClr val="E8590C"/>
                </a:solidFill>
                <a:latin typeface="Consolas"/>
              </a:rPr>
              <a:t>visibility_timeout</a:t>
            </a:r>
            <a:r>
              <a:rPr sz="1500" b="0">
                <a:solidFill>
                  <a:srgbClr val="1B2738"/>
                </a:solidFill>
                <a:latin typeface="Segoe UI"/>
              </a:rPr>
              <a:t> (1 ч) меньше длительности задачи → задача выдаётся второму воркеру, и оба пишут результат.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Синхронный Celery в asyncio-приложении</a:t>
            </a:r>
            <a:r>
              <a:rPr sz="1500" b="0">
                <a:solidFill>
                  <a:srgbClr val="1B2738"/>
                </a:solidFill>
                <a:latin typeface="Segoe UI"/>
              </a:rPr>
              <a:t> — блокировка event loop; нужен arq/Taskiq или executor.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Большие payload.</a:t>
            </a:r>
            <a:r>
              <a:rPr sz="1500" b="0">
                <a:solidFill>
                  <a:srgbClr val="1B2738"/>
                </a:solidFill>
                <a:latin typeface="Segoe UI"/>
              </a:rPr>
              <a:t> Сообщение должно быть маленьким: файлы и датасеты — в S3/volume, в сообщении — ссылка. Брокер — не хранилище.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Запрос-ответ за миллисекунды.</a:t>
            </a:r>
            <a:r>
              <a:rPr sz="1500" b="0">
                <a:solidFill>
                  <a:srgbClr val="1B2738"/>
                </a:solidFill>
                <a:latin typeface="Segoe UI"/>
              </a:rPr>
              <a:t> Очередь добавляет от единиц до сотен мс — это не замена RPC/gRPC.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Демо-проект: генерация отчётов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Одна доменная функция, два фреймворка очередей, два брокера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64768"/>
            <a:ext cx="11057839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560"/>
              </a:spcAft>
              <a:buClr>
                <a:srgbClr val="2F6FED"/>
              </a:buClr>
              <a:buFont typeface="Arial"/>
              <a:buChar char="■"/>
            </a:pPr>
            <a:r>
              <a:rPr sz="1600" b="1">
                <a:solidFill>
                  <a:srgbClr val="1B2738"/>
                </a:solidFill>
                <a:latin typeface="Segoe UI"/>
              </a:rPr>
              <a:t>Сценарий</a:t>
            </a:r>
            <a:r>
              <a:rPr sz="1600" b="0">
                <a:solidFill>
                  <a:srgbClr val="1B2738"/>
                </a:solidFill>
                <a:latin typeface="Segoe UI"/>
              </a:rPr>
              <a:t>: </a:t>
            </a:r>
            <a:r>
              <a:rPr sz="1500" b="0">
                <a:solidFill>
                  <a:srgbClr val="E8590C"/>
                </a:solidFill>
                <a:latin typeface="Consolas"/>
              </a:rPr>
              <a:t>POST /reports</a:t>
            </a:r>
            <a:r>
              <a:rPr sz="1600" b="0">
                <a:solidFill>
                  <a:srgbClr val="1B2738"/>
                </a:solidFill>
                <a:latin typeface="Segoe UI"/>
              </a:rPr>
              <a:t> → </a:t>
            </a:r>
            <a:r>
              <a:rPr sz="1500" b="0">
                <a:solidFill>
                  <a:srgbClr val="E8590C"/>
                </a:solidFill>
                <a:latin typeface="Consolas"/>
              </a:rPr>
              <a:t>202 {id}</a:t>
            </a:r>
            <a:r>
              <a:rPr sz="1600" b="0">
                <a:solidFill>
                  <a:srgbClr val="1B2738"/>
                </a:solidFill>
                <a:latin typeface="Segoe UI"/>
              </a:rPr>
              <a:t> → фоновая генерация (pandas → агрегаты → CSV + PNG + PDF) → </a:t>
            </a:r>
            <a:r>
              <a:rPr sz="1500" b="0">
                <a:solidFill>
                  <a:srgbClr val="E8590C"/>
                </a:solidFill>
                <a:latin typeface="Consolas"/>
              </a:rPr>
              <a:t>GET /reports/{id}</a:t>
            </a:r>
            <a:r>
              <a:rPr sz="1600" b="0">
                <a:solidFill>
                  <a:srgbClr val="1B2738"/>
                </a:solidFill>
                <a:latin typeface="Segoe UI"/>
              </a:rPr>
              <a:t> с прогрессом → скачивание артефактов.</a:t>
            </a:r>
          </a:p>
          <a:p>
            <a:pPr marL="237744" indent="-219456">
              <a:spcAft>
                <a:spcPts val="560"/>
              </a:spcAft>
              <a:buClr>
                <a:srgbClr val="2F6FED"/>
              </a:buClr>
              <a:buFont typeface="Arial"/>
              <a:buChar char="■"/>
            </a:pPr>
            <a:r>
              <a:rPr sz="1600" b="1">
                <a:solidFill>
                  <a:srgbClr val="1B2738"/>
                </a:solidFill>
                <a:latin typeface="Segoe UI"/>
              </a:rPr>
              <a:t>Три слоя и их незнание друг о друге</a:t>
            </a:r>
            <a:r>
              <a:rPr sz="1600" b="0">
                <a:solidFill>
                  <a:srgbClr val="1B2738"/>
                </a:solidFill>
                <a:latin typeface="Segoe UI"/>
              </a:rPr>
              <a:t>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962048"/>
          <a:ext cx="11057837" cy="144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382"/>
                <a:gridCol w="4009985"/>
                <a:gridCol w="3888470"/>
              </a:tblGrid>
              <a:tr h="361492"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FFFFFF"/>
                          </a:solidFill>
                          <a:latin typeface="Segoe UI"/>
                        </a:rPr>
                        <a:t>Слой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FFFFFF"/>
                          </a:solidFill>
                          <a:latin typeface="Segoe UI"/>
                        </a:rPr>
                        <a:t>Знает о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FFFFFF"/>
                          </a:solidFill>
                          <a:latin typeface="Segoe UI"/>
                        </a:rPr>
                        <a:t>Не знает о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</a:tr>
              <a:tr h="361492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E8590C"/>
                          </a:solidFill>
                          <a:latin typeface="Consolas"/>
                        </a:rPr>
                        <a:t>app/reports</a:t>
                      </a:r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 — домен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pandas, matplotlib, файлы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очередях, Celery, RQ, HTTP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61492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E8590C"/>
                          </a:solidFill>
                          <a:latin typeface="Consolas"/>
                        </a:rPr>
                        <a:t>app/tasks</a:t>
                      </a:r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 — адаптеры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Celery, RQ, pika, брокерах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HTTP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61492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E8590C"/>
                          </a:solidFill>
                          <a:latin typeface="Consolas"/>
                        </a:rPr>
                        <a:t>app/api</a:t>
                      </a:r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 — FastAPI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HTTP, протоколе </a:t>
                      </a:r>
                      <a:r>
                        <a:rPr sz="1019" b="0">
                          <a:solidFill>
                            <a:srgbClr val="E8590C"/>
                          </a:solidFill>
                          <a:latin typeface="Consolas"/>
                        </a:rPr>
                        <a:t>TaskBackend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какой фреймворк внизу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682336"/>
            <a:ext cx="11057839" cy="707136"/>
          </a:xfrm>
          <a:prstGeom prst="rect">
            <a:avLst/>
          </a:prstGeom>
          <a:solidFill>
            <a:srgbClr val="F2F5FA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801208"/>
            <a:ext cx="10728655" cy="707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>
                <a:solidFill>
                  <a:srgbClr val="1B2738"/>
                </a:solidFill>
                <a:latin typeface="Consolas"/>
              </a:rPr>
              <a:t>class TaskBackend(Protocol):</a:t>
            </a:r>
          </a:p>
          <a:p>
            <a:r>
              <a:rPr sz="880">
                <a:solidFill>
                  <a:srgbClr val="1B2738"/>
                </a:solidFill>
                <a:latin typeface="Consolas"/>
              </a:rPr>
              <a:t>    def enqueue_report(self, report_id: str, params: ReportParams) -&gt; str: ...</a:t>
            </a:r>
          </a:p>
          <a:p>
            <a:r>
              <a:rPr sz="880">
                <a:solidFill>
                  <a:srgbClr val="1B2738"/>
                </a:solidFill>
                <a:latin typeface="Consolas"/>
              </a:rPr>
              <a:t>    def get_status(self, report_id: str) -&gt; ReportStatus: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554064"/>
            <a:ext cx="11057839" cy="627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560"/>
              </a:spcAft>
              <a:buClr>
                <a:srgbClr val="2F6FED"/>
              </a:buClr>
              <a:buFont typeface="Arial"/>
              <a:buChar char="■"/>
            </a:pPr>
            <a:r>
              <a:rPr sz="1600" b="0">
                <a:solidFill>
                  <a:srgbClr val="1B2738"/>
                </a:solidFill>
                <a:latin typeface="Segoe UI"/>
              </a:rPr>
              <a:t>Переключение </a:t>
            </a:r>
            <a:r>
              <a:rPr sz="1500" b="0">
                <a:solidFill>
                  <a:srgbClr val="E8590C"/>
                </a:solidFill>
                <a:latin typeface="Consolas"/>
              </a:rPr>
              <a:t>TASK_BACKEND=celery|rq</a:t>
            </a:r>
            <a:r>
              <a:rPr sz="1600" b="0">
                <a:solidFill>
                  <a:srgbClr val="1B2738"/>
                </a:solidFill>
                <a:latin typeface="Segoe UI"/>
              </a:rPr>
              <a:t> и </a:t>
            </a:r>
            <a:r>
              <a:rPr sz="1500" b="0">
                <a:solidFill>
                  <a:srgbClr val="E8590C"/>
                </a:solidFill>
                <a:latin typeface="Consolas"/>
              </a:rPr>
              <a:t>BROKER_URL=redis://|amqp://</a:t>
            </a:r>
            <a:r>
              <a:rPr sz="1600" b="0">
                <a:solidFill>
                  <a:srgbClr val="1B2738"/>
                </a:solidFill>
                <a:latin typeface="Segoe UI"/>
              </a:rPr>
              <a:t> — переменные окружения, код не меняется. Плюс </a:t>
            </a:r>
            <a:r>
              <a:rPr sz="1500" b="0">
                <a:solidFill>
                  <a:srgbClr val="E8590C"/>
                </a:solidFill>
                <a:latin typeface="Consolas"/>
              </a:rPr>
              <a:t>raw_amqp.py</a:t>
            </a:r>
            <a:r>
              <a:rPr sz="1600" b="0">
                <a:solidFill>
                  <a:srgbClr val="1B2738"/>
                </a:solidFill>
                <a:latin typeface="Segoe UI"/>
              </a:rPr>
              <a:t> — producer/consumer на голом pika, чтобы показать механику без фреймворка.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Эксперимент: методика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5 конфигураций × 3 типа задач × 1/2/4 воркера × 3 повтора = 135 прогонов, 89 минут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93633"/>
          <a:ext cx="11057838" cy="222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6393"/>
                <a:gridCol w="7221445"/>
              </a:tblGrid>
              <a:tr h="370880">
                <a:tc>
                  <a:txBody>
                    <a:bodyPr wrap="square"/>
                    <a:lstStyle/>
                    <a:p>
                      <a:r>
                        <a:rPr sz="1176" b="1">
                          <a:solidFill>
                            <a:srgbClr val="FFFFFF"/>
                          </a:solidFill>
                          <a:latin typeface="Segoe UI"/>
                        </a:rPr>
                        <a:t>Конфигурация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1">
                          <a:solidFill>
                            <a:srgbClr val="FFFFFF"/>
                          </a:solidFill>
                          <a:latin typeface="Segoe UI"/>
                        </a:rPr>
                        <a:t>Модель исполнения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</a:tr>
              <a:tr h="370880"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Celery + Redis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prefork, </a:t>
                      </a:r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concurrency=1</a:t>
                      </a:r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, </a:t>
                      </a:r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acks_late</a:t>
                      </a:r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, </a:t>
                      </a:r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prefetch=1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70880"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Celery + RabbitMQ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то же, брокер AMQP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70880"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Celery + RabbitMQ + confirms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то же + подтверждение публикации — равные с Redis гарантии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70880"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RQ + Redis (</a:t>
                      </a:r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Worker</a:t>
                      </a:r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1">
                          <a:solidFill>
                            <a:srgbClr val="1B2738"/>
                          </a:solidFill>
                          <a:latin typeface="Segoe UI"/>
                        </a:rPr>
                        <a:t>fork на каждую задачу</a:t>
                      </a:r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 — умолчание RQ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70880"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RQ + Redis (</a:t>
                      </a:r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SimpleWorker</a:t>
                      </a:r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76" b="0">
                          <a:solidFill>
                            <a:srgbClr val="1B2738"/>
                          </a:solidFill>
                          <a:latin typeface="Segoe UI"/>
                        </a:rPr>
                        <a:t>задача в процессе воркера — аналог </a:t>
                      </a:r>
                      <a:r>
                        <a:rPr sz="1076" b="0">
                          <a:solidFill>
                            <a:srgbClr val="E8590C"/>
                          </a:solidFill>
                          <a:latin typeface="Consolas"/>
                        </a:rPr>
                        <a:t>--pool=solo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393233"/>
            <a:ext cx="11057839" cy="17598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588"/>
              </a:spcAft>
              <a:buClr>
                <a:srgbClr val="2F6FED"/>
              </a:buClr>
              <a:buFont typeface="Arial"/>
              <a:buChar char="■"/>
            </a:pPr>
            <a:r>
              <a:rPr sz="1386" b="1">
                <a:solidFill>
                  <a:srgbClr val="1B2738"/>
                </a:solidFill>
                <a:latin typeface="Segoe UI"/>
              </a:rPr>
              <a:t>Задачи</a:t>
            </a:r>
            <a:r>
              <a:rPr sz="1386" b="0">
                <a:solidFill>
                  <a:srgbClr val="1B2738"/>
                </a:solidFill>
                <a:latin typeface="Segoe UI"/>
              </a:rPr>
              <a:t>: </a:t>
            </a:r>
            <a:r>
              <a:rPr sz="1286" b="0">
                <a:solidFill>
                  <a:srgbClr val="E8590C"/>
                </a:solidFill>
                <a:latin typeface="Consolas"/>
              </a:rPr>
              <a:t>noop</a:t>
            </a:r>
            <a:r>
              <a:rPr sz="1386" b="0">
                <a:solidFill>
                  <a:srgbClr val="1B2738"/>
                </a:solidFill>
                <a:latin typeface="Segoe UI"/>
              </a:rPr>
              <a:t> (чистые накладные расходы), </a:t>
            </a:r>
            <a:r>
              <a:rPr sz="1286" b="0">
                <a:solidFill>
                  <a:srgbClr val="E8590C"/>
                </a:solidFill>
                <a:latin typeface="Consolas"/>
              </a:rPr>
              <a:t>cpu_small</a:t>
            </a:r>
            <a:r>
              <a:rPr sz="1386" b="0">
                <a:solidFill>
                  <a:srgbClr val="1B2738"/>
                </a:solidFill>
                <a:latin typeface="Segoe UI"/>
              </a:rPr>
              <a:t> (агрегация 10 000 строк + график, ≈46 мс CPU), </a:t>
            </a:r>
            <a:r>
              <a:rPr sz="1286" b="0">
                <a:solidFill>
                  <a:srgbClr val="E8590C"/>
                </a:solidFill>
                <a:latin typeface="Consolas"/>
              </a:rPr>
              <a:t>io_sleep</a:t>
            </a:r>
            <a:r>
              <a:rPr sz="1386" b="0">
                <a:solidFill>
                  <a:srgbClr val="1B2738"/>
                </a:solidFill>
                <a:latin typeface="Segoe UI"/>
              </a:rPr>
              <a:t> (50 мс ожидания).</a:t>
            </a:r>
          </a:p>
          <a:p>
            <a:pPr marL="237744" indent="-219456">
              <a:spcAft>
                <a:spcPts val="588"/>
              </a:spcAft>
              <a:buClr>
                <a:srgbClr val="2F6FED"/>
              </a:buClr>
              <a:buFont typeface="Arial"/>
              <a:buChar char="■"/>
            </a:pPr>
            <a:r>
              <a:rPr sz="1386" b="1">
                <a:solidFill>
                  <a:srgbClr val="1B2738"/>
                </a:solidFill>
                <a:latin typeface="Segoe UI"/>
              </a:rPr>
              <a:t>Три фазы — три разные величины</a:t>
            </a:r>
            <a:r>
              <a:rPr sz="1386" b="0">
                <a:solidFill>
                  <a:srgbClr val="1B2738"/>
                </a:solidFill>
                <a:latin typeface="Segoe UI"/>
              </a:rPr>
              <a:t>: постановка в остановленную очередь → разбор заведомо полной очереди → задержка одной задачи на пустой очереди. Иначе на микрозадачах «пропускная способность» измеряет продьюсера, а «задержка» — позицию в очереди.</a:t>
            </a:r>
          </a:p>
          <a:p>
            <a:pPr marL="237744" indent="-219456">
              <a:spcAft>
                <a:spcPts val="588"/>
              </a:spcAft>
              <a:buClr>
                <a:srgbClr val="2F6FED"/>
              </a:buClr>
              <a:buFont typeface="Arial"/>
              <a:buChar char="■"/>
            </a:pPr>
            <a:r>
              <a:rPr sz="1386" b="1">
                <a:solidFill>
                  <a:srgbClr val="1B2738"/>
                </a:solidFill>
                <a:latin typeface="Segoe UI"/>
              </a:rPr>
              <a:t>Чистота замера</a:t>
            </a:r>
            <a:r>
              <a:rPr sz="1386" b="0">
                <a:solidFill>
                  <a:srgbClr val="1B2738"/>
                </a:solidFill>
                <a:latin typeface="Segoe UI"/>
              </a:rPr>
              <a:t>: result backend и метрики — на отдельном Redis, события Flower выключены, продьюсер в отдельном контейнере, </a:t>
            </a:r>
            <a:r>
              <a:rPr sz="1286" b="0">
                <a:solidFill>
                  <a:srgbClr val="E8590C"/>
                </a:solidFill>
                <a:latin typeface="Consolas"/>
              </a:rPr>
              <a:t>beat</a:t>
            </a:r>
            <a:r>
              <a:rPr sz="1386" b="0">
                <a:solidFill>
                  <a:srgbClr val="1B2738"/>
                </a:solidFill>
                <a:latin typeface="Segoe UI"/>
              </a:rPr>
              <a:t> и </a:t>
            </a:r>
            <a:r>
              <a:rPr sz="1286" b="0">
                <a:solidFill>
                  <a:srgbClr val="E8590C"/>
                </a:solidFill>
                <a:latin typeface="Consolas"/>
              </a:rPr>
              <a:t>flower</a:t>
            </a:r>
            <a:r>
              <a:rPr sz="1386" b="0">
                <a:solidFill>
                  <a:srgbClr val="1B2738"/>
                </a:solidFill>
                <a:latin typeface="Segoe UI"/>
              </a:rPr>
              <a:t> погашены.</a:t>
            </a:r>
          </a:p>
          <a:p>
            <a:pPr marL="237744" indent="-219456">
              <a:spcAft>
                <a:spcPts val="588"/>
              </a:spcAft>
              <a:buClr>
                <a:srgbClr val="2F6FED"/>
              </a:buClr>
              <a:buFont typeface="Arial"/>
              <a:buChar char="■"/>
            </a:pPr>
            <a:r>
              <a:rPr sz="1386" b="0">
                <a:solidFill>
                  <a:srgbClr val="1B2738"/>
                </a:solidFill>
                <a:latin typeface="Segoe UI"/>
              </a:rPr>
              <a:t>Медиана трёх повторов; 135/135 прогонов с нужным числом живых воркеров, разброс между повторами — 1 %.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Результаты: пропускная способность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90423"/>
            <a:ext cx="11057839" cy="320517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5205322"/>
            <a:ext cx="11057839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205322"/>
            <a:ext cx="63500" cy="54864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333338"/>
            <a:ext cx="10600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B2738"/>
                </a:solidFill>
                <a:latin typeface="Segoe UI"/>
              </a:rPr>
              <a:t>От ≈50 мс полезной работы на задачу фреймворк и брокер перестают влиять на пропускную способность.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Результаты: цифры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Медиана трёх повторов; пропускная способность — разбор заранее наполненной очереди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32276"/>
          <a:ext cx="11057836" cy="2281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1090"/>
                <a:gridCol w="1715871"/>
                <a:gridCol w="2192502"/>
                <a:gridCol w="2192502"/>
                <a:gridCol w="1715871"/>
              </a:tblGrid>
              <a:tr h="380268">
                <a:tc>
                  <a:txBody>
                    <a:bodyPr wrap="square"/>
                    <a:lstStyle/>
                    <a:p>
                      <a:r>
                        <a:rPr sz="1232" b="1">
                          <a:solidFill>
                            <a:srgbClr val="FFFFFF"/>
                          </a:solidFill>
                          <a:latin typeface="Segoe UI"/>
                        </a:rPr>
                        <a:t>Конфигурация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1">
                          <a:solidFill>
                            <a:srgbClr val="FFFFFF"/>
                          </a:solidFill>
                          <a:latin typeface="Segoe UI"/>
                        </a:rPr>
                        <a:t>noop 1w → 4w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1">
                          <a:solidFill>
                            <a:srgbClr val="FFFFFF"/>
                          </a:solidFill>
                          <a:latin typeface="Segoe UI"/>
                        </a:rPr>
                        <a:t>cpu_small 1w → 4w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1">
                          <a:solidFill>
                            <a:srgbClr val="FFFFFF"/>
                          </a:solidFill>
                          <a:latin typeface="Segoe UI"/>
                        </a:rPr>
                        <a:t>Постановка, msg/s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1">
                          <a:solidFill>
                            <a:srgbClr val="FFFFFF"/>
                          </a:solidFill>
                          <a:latin typeface="Segoe UI"/>
                        </a:rPr>
                        <a:t>Задержка p50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</a:tr>
              <a:tr h="380268"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Celery + Redis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434 → 1497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20 → 67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1583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1,8 мс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0268"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Celery + RabbitMQ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1">
                          <a:solidFill>
                            <a:srgbClr val="1B2738"/>
                          </a:solidFill>
                          <a:latin typeface="Segoe UI"/>
                        </a:rPr>
                        <a:t>560 → 1744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20 → 67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2333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1,8 мс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80268"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Celery + RabbitMQ + confirms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554 → 1649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20 → 68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1">
                          <a:solidFill>
                            <a:srgbClr val="1B2738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1,8 мс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0268"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RQ </a:t>
                      </a:r>
                      <a:r>
                        <a:rPr sz="1132" b="0">
                          <a:solidFill>
                            <a:srgbClr val="E8590C"/>
                          </a:solidFill>
                          <a:latin typeface="Consolas"/>
                        </a:rPr>
                        <a:t>Worker</a:t>
                      </a:r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 (fork)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13 → 45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7 → 24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2366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1">
                          <a:solidFill>
                            <a:srgbClr val="1B2738"/>
                          </a:solidFill>
                          <a:latin typeface="Segoe UI"/>
                        </a:rPr>
                        <a:t>72 мс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80268"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RQ </a:t>
                      </a:r>
                      <a:r>
                        <a:rPr sz="1132" b="0">
                          <a:solidFill>
                            <a:srgbClr val="E8590C"/>
                          </a:solidFill>
                          <a:latin typeface="Consolas"/>
                        </a:rPr>
                        <a:t>SimpleWorker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296 → 939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19 → 65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2567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32" b="0">
                          <a:solidFill>
                            <a:srgbClr val="1B2738"/>
                          </a:solidFill>
                          <a:latin typeface="Segoe UI"/>
                        </a:rPr>
                        <a:t>3,5 мс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388204"/>
            <a:ext cx="11057839" cy="1826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616"/>
              </a:spcAft>
              <a:buClr>
                <a:srgbClr val="2F6FED"/>
              </a:buClr>
              <a:buFont typeface="Arial"/>
              <a:buChar char="■"/>
            </a:pPr>
            <a:r>
              <a:rPr sz="1452" b="1">
                <a:solidFill>
                  <a:srgbClr val="1B2738"/>
                </a:solidFill>
                <a:latin typeface="Segoe UI"/>
              </a:rPr>
              <a:t>Накладные расходы очереди — 1,8 мс</a:t>
            </a:r>
            <a:r>
              <a:rPr sz="1452" b="0">
                <a:solidFill>
                  <a:srgbClr val="1B2738"/>
                </a:solidFill>
                <a:latin typeface="Segoe UI"/>
              </a:rPr>
              <a:t> на задачу у Celery (одинаково на обоих брокерах), 3,5 мс у RQ </a:t>
            </a:r>
            <a:r>
              <a:rPr sz="1352" b="0">
                <a:solidFill>
                  <a:srgbClr val="E8590C"/>
                </a:solidFill>
                <a:latin typeface="Consolas"/>
              </a:rPr>
              <a:t>SimpleWorker</a:t>
            </a:r>
            <a:r>
              <a:rPr sz="1452" b="0">
                <a:solidFill>
                  <a:srgbClr val="1B2738"/>
                </a:solidFill>
                <a:latin typeface="Segoe UI"/>
              </a:rPr>
              <a:t>, 72 мс у RQ с fork.</a:t>
            </a:r>
          </a:p>
          <a:p>
            <a:pPr marL="237744" indent="-219456">
              <a:spcAft>
                <a:spcPts val="616"/>
              </a:spcAft>
              <a:buClr>
                <a:srgbClr val="2F6FED"/>
              </a:buClr>
              <a:buFont typeface="Arial"/>
              <a:buChar char="■"/>
            </a:pPr>
            <a:r>
              <a:rPr sz="1452" b="1">
                <a:solidFill>
                  <a:srgbClr val="1B2738"/>
                </a:solidFill>
                <a:latin typeface="Segoe UI"/>
              </a:rPr>
              <a:t>От ≈50 мс полезной работы все конфигурации без fork неразличимы</a:t>
            </a:r>
            <a:r>
              <a:rPr sz="1452" b="0">
                <a:solidFill>
                  <a:srgbClr val="1B2738"/>
                </a:solidFill>
                <a:latin typeface="Segoe UI"/>
              </a:rPr>
              <a:t> — на </a:t>
            </a:r>
            <a:r>
              <a:rPr sz="1352" b="0">
                <a:solidFill>
                  <a:srgbClr val="E8590C"/>
                </a:solidFill>
                <a:latin typeface="Consolas"/>
              </a:rPr>
              <a:t>cpu_small</a:t>
            </a:r>
            <a:r>
              <a:rPr sz="1452" b="0">
                <a:solidFill>
                  <a:srgbClr val="1B2738"/>
                </a:solidFill>
                <a:latin typeface="Segoe UI"/>
              </a:rPr>
              <a:t> и </a:t>
            </a:r>
            <a:r>
              <a:rPr sz="1352" b="0">
                <a:solidFill>
                  <a:srgbClr val="E8590C"/>
                </a:solidFill>
                <a:latin typeface="Consolas"/>
              </a:rPr>
              <a:t>io_sleep</a:t>
            </a:r>
            <a:r>
              <a:rPr sz="1452" b="0">
                <a:solidFill>
                  <a:srgbClr val="1B2738"/>
                </a:solidFill>
                <a:latin typeface="Segoe UI"/>
              </a:rPr>
              <a:t> разница в пределах 2 %.</a:t>
            </a:r>
          </a:p>
          <a:p>
            <a:pPr marL="237744" indent="-219456">
              <a:spcAft>
                <a:spcPts val="616"/>
              </a:spcAft>
              <a:buClr>
                <a:srgbClr val="2F6FED"/>
              </a:buClr>
              <a:buFont typeface="Arial"/>
              <a:buChar char="■"/>
            </a:pPr>
            <a:r>
              <a:rPr sz="1452" b="1">
                <a:solidFill>
                  <a:srgbClr val="1B2738"/>
                </a:solidFill>
                <a:latin typeface="Segoe UI"/>
              </a:rPr>
              <a:t>Масштабирование ×3,0–4,1</a:t>
            </a:r>
            <a:r>
              <a:rPr sz="1452" b="0">
                <a:solidFill>
                  <a:srgbClr val="1B2738"/>
                </a:solidFill>
                <a:latin typeface="Segoe UI"/>
              </a:rPr>
              <a:t> на четырёх воркерах: очередь — рабочий способ горизонтального масштабирования.</a:t>
            </a:r>
          </a:p>
          <a:p>
            <a:pPr marL="237744" indent="-219456">
              <a:spcAft>
                <a:spcPts val="616"/>
              </a:spcAft>
              <a:buClr>
                <a:srgbClr val="2F6FED"/>
              </a:buClr>
              <a:buFont typeface="Arial"/>
              <a:buChar char="■"/>
            </a:pPr>
            <a:r>
              <a:rPr sz="1452" b="1">
                <a:solidFill>
                  <a:srgbClr val="1B2738"/>
                </a:solidFill>
                <a:latin typeface="Segoe UI"/>
              </a:rPr>
              <a:t>Преимущество RabbitMQ на постановке исчезает при включении publisher confirms</a:t>
            </a:r>
            <a:r>
              <a:rPr sz="1452" b="0">
                <a:solidFill>
                  <a:srgbClr val="1B2738"/>
                </a:solidFill>
                <a:latin typeface="Segoe UI"/>
              </a:rPr>
              <a:t>: 2333 → 210 msg/s, в 7,5 раза медленнее Redis. На разбор очереди confirms не влияют вовсе.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Свой результат нужно проверять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Первая версия эксперимента дала «RabbitMQ быстрее Redis в 1,5–1,8 раза»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39444"/>
          <a:ext cx="11057838" cy="1995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540"/>
                <a:gridCol w="3864298"/>
              </a:tblGrid>
              <a:tr h="361492"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FFFFFF"/>
                          </a:solidFill>
                          <a:latin typeface="Segoe UI"/>
                        </a:rPr>
                        <a:t>Что было не так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1">
                          <a:solidFill>
                            <a:srgbClr val="FFFFFF"/>
                          </a:solidFill>
                          <a:latin typeface="Segoe UI"/>
                        </a:rPr>
                        <a:t>Как исправлено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</a:tr>
              <a:tr h="549249"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Один Redis обслуживал брокер, события Flower и результаты — </a:t>
                      </a:r>
                      <a:r>
                        <a:rPr sz="1120" b="1">
                          <a:solidFill>
                            <a:srgbClr val="1B2738"/>
                          </a:solidFill>
                          <a:latin typeface="Segoe UI"/>
                        </a:rPr>
                        <a:t>26 команд на задачу</a:t>
                      </a:r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 против 13 у конфигурации с RabbitMQ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отдельный Redis под результаты и метрики, события выключены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61492"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«Пропускная способность» на микрозадачах измеряла продьюсера: очередь пустовала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очередь наполняется при остановленном потреблении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61492"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«Задержка» была временем ожидания в очереди — закон Литтла, а не цена задачи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отдельная фаза: 30 задач по одной на пустой очереди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61492"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Сравнивались конфигурации с разными гарантиями публикации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20" b="0">
                          <a:solidFill>
                            <a:srgbClr val="1B2738"/>
                          </a:solidFill>
                          <a:latin typeface="Segoe UI"/>
                        </a:rPr>
                        <a:t>добавлена конфигурация с publisher confirms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208981"/>
            <a:ext cx="11057839" cy="12399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560"/>
              </a:spcAft>
              <a:buClr>
                <a:srgbClr val="2F6FED"/>
              </a:buClr>
              <a:buFont typeface="Arial"/>
              <a:buChar char="■"/>
            </a:pPr>
            <a:r>
              <a:rPr sz="1440" b="1">
                <a:solidFill>
                  <a:srgbClr val="1B2738"/>
                </a:solidFill>
                <a:latin typeface="Segoe UI"/>
              </a:rPr>
              <a:t>Redis работал на ~10 % потолка</a:t>
            </a:r>
            <a:r>
              <a:rPr sz="1440" b="0">
                <a:solidFill>
                  <a:srgbClr val="1B2738"/>
                </a:solidFill>
                <a:latin typeface="Segoe UI"/>
              </a:rPr>
              <a:t>: 9 000 </a:t>
            </a:r>
            <a:r>
              <a:rPr sz="1340" b="0">
                <a:solidFill>
                  <a:srgbClr val="E8590C"/>
                </a:solidFill>
                <a:latin typeface="Consolas"/>
              </a:rPr>
              <a:t>LPUSH</a:t>
            </a:r>
            <a:r>
              <a:rPr sz="1440" b="0">
                <a:solidFill>
                  <a:srgbClr val="1B2738"/>
                </a:solidFill>
                <a:latin typeface="Segoe UI"/>
              </a:rPr>
              <a:t>/с из контейнера при нагрузке 300–1500 задач/с. Упирались в число round-trip'ов (≈110 мкс каждый), а не в сервер.</a:t>
            </a:r>
          </a:p>
          <a:p>
            <a:pPr marL="237744" indent="-219456">
              <a:spcAft>
                <a:spcPts val="560"/>
              </a:spcAft>
              <a:buClr>
                <a:srgbClr val="2F6FED"/>
              </a:buClr>
              <a:buFont typeface="Arial"/>
              <a:buChar char="■"/>
            </a:pPr>
            <a:r>
              <a:rPr sz="1440" b="1">
                <a:solidFill>
                  <a:srgbClr val="1B2738"/>
                </a:solidFill>
                <a:latin typeface="Segoe UI"/>
              </a:rPr>
              <a:t>После перепрогона</a:t>
            </a:r>
            <a:r>
              <a:rPr sz="1440" b="0">
                <a:solidFill>
                  <a:srgbClr val="1B2738"/>
                </a:solidFill>
                <a:latin typeface="Segoe UI"/>
              </a:rPr>
              <a:t>: разрыв 1,57× → </a:t>
            </a:r>
            <a:r>
              <a:rPr sz="1440" b="1">
                <a:solidFill>
                  <a:srgbClr val="1B2738"/>
                </a:solidFill>
                <a:latin typeface="Segoe UI"/>
              </a:rPr>
              <a:t>1,29×</a:t>
            </a:r>
            <a:r>
              <a:rPr sz="1440" b="0">
                <a:solidFill>
                  <a:srgbClr val="1B2738"/>
                </a:solidFill>
                <a:latin typeface="Segoe UI"/>
              </a:rPr>
              <a:t>, масштабирование ×2,4 → </a:t>
            </a:r>
            <a:r>
              <a:rPr sz="1440" b="1">
                <a:solidFill>
                  <a:srgbClr val="1B2738"/>
                </a:solidFill>
                <a:latin typeface="Segoe UI"/>
              </a:rPr>
              <a:t>×3,45</a:t>
            </a:r>
            <a:r>
              <a:rPr sz="1440" b="0">
                <a:solidFill>
                  <a:srgbClr val="1B2738"/>
                </a:solidFill>
                <a:latin typeface="Segoe UI"/>
              </a:rPr>
              <a:t>, накладные расходы «≈3 мс» → </a:t>
            </a:r>
            <a:r>
              <a:rPr sz="1440" b="1">
                <a:solidFill>
                  <a:srgbClr val="1B2738"/>
                </a:solidFill>
                <a:latin typeface="Segoe UI"/>
              </a:rPr>
              <a:t>1,8 мс</a:t>
            </a:r>
            <a:r>
              <a:rPr sz="1440" b="0">
                <a:solidFill>
                  <a:srgbClr val="1B2738"/>
                </a:solidFill>
                <a:latin typeface="Segoe UI"/>
              </a:rPr>
              <a:t>.</a:t>
            </a:r>
          </a:p>
          <a:p>
            <a:pPr marL="237744" indent="-219456">
              <a:spcAft>
                <a:spcPts val="560"/>
              </a:spcAft>
              <a:buClr>
                <a:srgbClr val="2F6FED"/>
              </a:buClr>
              <a:buFont typeface="Arial"/>
              <a:buChar char="■"/>
            </a:pPr>
            <a:r>
              <a:rPr sz="1440" b="1">
                <a:solidFill>
                  <a:srgbClr val="1B2738"/>
                </a:solidFill>
                <a:latin typeface="Segoe UI"/>
              </a:rPr>
              <a:t>Устояло</a:t>
            </a:r>
            <a:r>
              <a:rPr sz="1440" b="0">
                <a:solidFill>
                  <a:srgbClr val="1B2738"/>
                </a:solidFill>
                <a:latin typeface="Segoe UI"/>
              </a:rPr>
              <a:t>: цена fork в RQ, «от 50 мс брокер не важен», линейность масштабирования, идемпотентность при </a:t>
            </a:r>
            <a:r>
              <a:rPr sz="1340" b="0">
                <a:solidFill>
                  <a:srgbClr val="E8590C"/>
                </a:solidFill>
                <a:latin typeface="Consolas"/>
              </a:rPr>
              <a:t>acks_late</a:t>
            </a:r>
            <a:r>
              <a:rPr sz="1440" b="0">
                <a:solidFill>
                  <a:srgbClr val="1B2738"/>
                </a:solidFill>
                <a:latin typeface="Segoe U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558635"/>
            <a:ext cx="11057839" cy="493776"/>
          </a:xfrm>
          <a:prstGeom prst="rect">
            <a:avLst/>
          </a:prstGeom>
          <a:solidFill>
            <a:srgbClr val="F2F5FA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558635"/>
            <a:ext cx="63500" cy="49377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686651"/>
            <a:ext cx="10600639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80" b="0">
                <a:solidFill>
                  <a:srgbClr val="1B2738"/>
                </a:solidFill>
                <a:latin typeface="Segoe UI"/>
              </a:rPr>
              <a:t>Данные первой матрицы были воспроизводимы — неверной была интерпретация. Измерять надо именно то, что собираешься сравнивать.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Выводы: чеклист выбора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Что брать под конкретную задачу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68348"/>
          <a:ext cx="11057838" cy="2996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3911"/>
                <a:gridCol w="6153927"/>
              </a:tblGrid>
              <a:tr h="33299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Ситуация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Решение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Задача &lt; 10 мс, потеря допустима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E8590C"/>
                          </a:solidFill>
                          <a:latin typeface="Consolas"/>
                        </a:rPr>
                        <a:t>BackgroundTasks</a:t>
                      </a:r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 / </a:t>
                      </a:r>
                      <a:r>
                        <a:rPr sz="850" b="0">
                          <a:solidFill>
                            <a:srgbClr val="E8590C"/>
                          </a:solidFill>
                          <a:latin typeface="Consolas"/>
                        </a:rPr>
                        <a:t>asyncio.create_task</a:t>
                      </a:r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 — без брокера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Тысячи коротких задач в секунду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Celery (prefork/threads) или RQ </a:t>
                      </a:r>
                      <a:r>
                        <a:rPr sz="850" b="0">
                          <a:solidFill>
                            <a:srgbClr val="E8590C"/>
                          </a:solidFill>
                          <a:latin typeface="Consolas"/>
                        </a:rPr>
                        <a:t>SimpleWorker</a:t>
                      </a:r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; </a:t>
                      </a:r>
                      <a:r>
                        <a:rPr sz="950" b="1">
                          <a:solidFill>
                            <a:srgbClr val="1B2738"/>
                          </a:solidFill>
                          <a:latin typeface="Segoe UI"/>
                        </a:rPr>
                        <a:t>не</a:t>
                      </a:r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 RQ </a:t>
                      </a:r>
                      <a:r>
                        <a:rPr sz="850" b="0">
                          <a:solidFill>
                            <a:srgbClr val="E8590C"/>
                          </a:solidFill>
                          <a:latin typeface="Consolas"/>
                        </a:rPr>
                        <a:t>Worker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Пайплайны, периодика, приоритеты, разные пулы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Celery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Уже есть Redis, задач немного, важна простота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RQ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Потеря задачи недопустима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RabbitMQ + </a:t>
                      </a:r>
                      <a:r>
                        <a:rPr sz="850" b="0">
                          <a:solidFill>
                            <a:srgbClr val="E8590C"/>
                          </a:solidFill>
                          <a:latin typeface="Consolas"/>
                        </a:rPr>
                        <a:t>acks_late</a:t>
                      </a:r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 + идемпотентность + DLX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Приложение на asyncio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arq / Taskiq / Dramatiq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Нужен порядок событий и replay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Kafka / Redis Streams — это не очередь задач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Долгие процессы с компенсациями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738"/>
                          </a:solidFill>
                          <a:latin typeface="Segoe UI"/>
                        </a:rPr>
                        <a:t>Temporal / Prefect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139614"/>
            <a:ext cx="11057839" cy="103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532"/>
              </a:spcAft>
              <a:buClr>
                <a:srgbClr val="2F6FED"/>
              </a:buClr>
              <a:buFont typeface="Arial"/>
              <a:buChar char="■"/>
            </a:pPr>
            <a:r>
              <a:rPr sz="1520" b="1">
                <a:solidFill>
                  <a:srgbClr val="1B2738"/>
                </a:solidFill>
                <a:latin typeface="Segoe UI"/>
              </a:rPr>
              <a:t>Идемпотентность — не опция</a:t>
            </a:r>
            <a:r>
              <a:rPr sz="1520" b="0">
                <a:solidFill>
                  <a:srgbClr val="1B2738"/>
                </a:solidFill>
                <a:latin typeface="Segoe UI"/>
              </a:rPr>
              <a:t>, а условие корректности при at-least-once.</a:t>
            </a:r>
          </a:p>
          <a:p>
            <a:pPr marL="237744" indent="-219456">
              <a:spcAft>
                <a:spcPts val="532"/>
              </a:spcAft>
              <a:buClr>
                <a:srgbClr val="2F6FED"/>
              </a:buClr>
              <a:buFont typeface="Arial"/>
              <a:buChar char="■"/>
            </a:pPr>
            <a:r>
              <a:rPr sz="1520" b="1">
                <a:solidFill>
                  <a:srgbClr val="1B2738"/>
                </a:solidFill>
                <a:latin typeface="Segoe UI"/>
              </a:rPr>
              <a:t>Умолчания фреймворков меняют гарантии и скорость в разы</a:t>
            </a:r>
            <a:r>
              <a:rPr sz="1520" b="0">
                <a:solidFill>
                  <a:srgbClr val="1B2738"/>
                </a:solidFill>
                <a:latin typeface="Segoe UI"/>
              </a:rPr>
              <a:t> — их нужно выбирать осознанно.</a:t>
            </a:r>
          </a:p>
          <a:p>
            <a:pPr marL="237744" indent="-219456">
              <a:spcAft>
                <a:spcPts val="532"/>
              </a:spcAft>
              <a:buClr>
                <a:srgbClr val="2F6FED"/>
              </a:buClr>
              <a:buFont typeface="Arial"/>
              <a:buChar char="■"/>
            </a:pPr>
            <a:r>
              <a:rPr sz="1520" b="1">
                <a:solidFill>
                  <a:srgbClr val="1B2738"/>
                </a:solidFill>
                <a:latin typeface="Segoe UI"/>
              </a:rPr>
              <a:t>Измерять, а не верить</a:t>
            </a:r>
            <a:r>
              <a:rPr sz="1520" b="0">
                <a:solidFill>
                  <a:srgbClr val="1B2738"/>
                </a:solidFill>
                <a:latin typeface="Segoe UI"/>
              </a:rPr>
              <a:t>: разница RQ </a:t>
            </a:r>
            <a:r>
              <a:rPr sz="1420" b="0">
                <a:solidFill>
                  <a:srgbClr val="E8590C"/>
                </a:solidFill>
                <a:latin typeface="Consolas"/>
              </a:rPr>
              <a:t>Worker</a:t>
            </a:r>
            <a:r>
              <a:rPr sz="1520" b="0">
                <a:solidFill>
                  <a:srgbClr val="1B2738"/>
                </a:solidFill>
                <a:latin typeface="Segoe UI"/>
              </a:rPr>
              <a:t> и </a:t>
            </a:r>
            <a:r>
              <a:rPr sz="1420" b="0">
                <a:solidFill>
                  <a:srgbClr val="E8590C"/>
                </a:solidFill>
                <a:latin typeface="Consolas"/>
              </a:rPr>
              <a:t>SimpleWorker</a:t>
            </a:r>
            <a:r>
              <a:rPr sz="1520" b="0">
                <a:solidFill>
                  <a:srgbClr val="1B2738"/>
                </a:solidFill>
                <a:latin typeface="Segoe UI"/>
              </a:rPr>
              <a:t> — 20×, разница Redis и RabbitMQ на реальных задачах — 0 %.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Спасибо за внимание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51760"/>
            <a:ext cx="11057839" cy="1615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2000" b="0">
                <a:solidFill>
                  <a:srgbClr val="1B2738"/>
                </a:solidFill>
                <a:latin typeface="Segoe UI"/>
              </a:rPr>
              <a:t>Репозиторий проекта: </a:t>
            </a:r>
            <a:r>
              <a:rPr sz="1900" b="0">
                <a:solidFill>
                  <a:srgbClr val="E8590C"/>
                </a:solidFill>
                <a:latin typeface="Consolas"/>
              </a:rPr>
              <a:t>github.com/kirillkychkin/report-queue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2000" b="0">
                <a:solidFill>
                  <a:srgbClr val="1B2738"/>
                </a:solidFill>
                <a:latin typeface="Segoe UI"/>
              </a:rPr>
              <a:t>Запуск демо одной командой: </a:t>
            </a:r>
            <a:r>
              <a:rPr sz="1900" b="0">
                <a:solidFill>
                  <a:srgbClr val="E8590C"/>
                </a:solidFill>
                <a:latin typeface="Consolas"/>
              </a:rPr>
              <a:t>docker compose up --build</a:t>
            </a:r>
            <a:r>
              <a:rPr sz="2000" b="0">
                <a:solidFill>
                  <a:srgbClr val="1B2738"/>
                </a:solidFill>
                <a:latin typeface="Segoe UI"/>
              </a:rPr>
              <a:t> → </a:t>
            </a:r>
            <a:r>
              <a:rPr sz="1900" b="0">
                <a:solidFill>
                  <a:srgbClr val="E8590C"/>
                </a:solidFill>
                <a:latin typeface="Consolas"/>
              </a:rPr>
              <a:t>http://localhost:8000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2000" b="0">
                <a:solidFill>
                  <a:srgbClr val="1B2738"/>
                </a:solidFill>
                <a:latin typeface="Segoe UI"/>
              </a:rPr>
              <a:t>В репозитории: </a:t>
            </a:r>
            <a:r>
              <a:rPr sz="1900" b="0">
                <a:solidFill>
                  <a:srgbClr val="E8590C"/>
                </a:solidFill>
                <a:latin typeface="Consolas"/>
              </a:rPr>
              <a:t>docs/architecture.md</a:t>
            </a:r>
            <a:r>
              <a:rPr sz="2000" b="0">
                <a:solidFill>
                  <a:srgbClr val="1B2738"/>
                </a:solidFill>
                <a:latin typeface="Segoe UI"/>
              </a:rPr>
              <a:t> (решения и альтернативы), </a:t>
            </a:r>
            <a:r>
              <a:rPr sz="1900" b="0">
                <a:solidFill>
                  <a:srgbClr val="E8590C"/>
                </a:solidFill>
                <a:latin typeface="Consolas"/>
              </a:rPr>
              <a:t>docs/experiment.md</a:t>
            </a:r>
            <a:r>
              <a:rPr sz="2000" b="0">
                <a:solidFill>
                  <a:srgbClr val="1B2738"/>
                </a:solidFill>
                <a:latin typeface="Segoe UI"/>
              </a:rPr>
              <a:t> (методика и данные), </a:t>
            </a:r>
            <a:r>
              <a:rPr sz="1900" b="0">
                <a:solidFill>
                  <a:srgbClr val="E8590C"/>
                </a:solidFill>
                <a:latin typeface="Consolas"/>
              </a:rPr>
              <a:t>docs/conclusions.md</a:t>
            </a:r>
            <a:r>
              <a:rPr sz="2000" b="0">
                <a:solidFill>
                  <a:srgbClr val="1B2738"/>
                </a:solidFill>
                <a:latin typeface="Segoe UI"/>
              </a:rPr>
              <a:t> (выводы), </a:t>
            </a:r>
            <a:r>
              <a:rPr sz="1900" b="0">
                <a:solidFill>
                  <a:srgbClr val="E8590C"/>
                </a:solidFill>
                <a:latin typeface="Consolas"/>
              </a:rPr>
              <a:t>bench/results/</a:t>
            </a:r>
            <a:r>
              <a:rPr sz="2000" b="0">
                <a:solidFill>
                  <a:srgbClr val="1B2738"/>
                </a:solidFill>
                <a:latin typeface="Segoe UI"/>
              </a:rPr>
              <a:t> (135 прогонов, графики).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Очереди сообщений и фоновые задачи в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