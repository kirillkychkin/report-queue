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примера: отчёт на 10 тысяч строк генерируется 0,4–3 секунды, PDF — дольше. В синхронном API это таймаут nginx и невозможность перезапустить приложение без потери запроса.</a:t>
            </a:r>
          </a:p>
          <a:p>
            <a:r>
              <a:t>Подчеркнуть: очередь не делает работу быстрее — общее время растёт (плюс накладные расходы), но система становится отзывчивой и устойчивой.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Competing consumers — ключ к горизонтальному масштабированию: чтобы добавить мощности, не нужно менять код, нужно поднять ещё один процесс-воркер. Это и покажу в эксперименте (1 → 2 → 4 воркера).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ответ на вопрос «почему так»: выбирается не гарантия, а цена ошибки. Потерять заказ отчёта хуже, чем сгенерировать его дважды — поэтому acks_late и идемпотентность.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Redis-транспорт Celery надстраивает AMQP-подобную семантику поверх списков — отсюда и накладные расходы на постановку, которые видны в эксперименте (900 msg/s против 1600 на RabbitMQ).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на демо вкладку Queues в Management UI: видно reports/notifications, число потребителей, unacked. Это же — ответ на вопрос «как понять, что происходит».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«а почему не Kafka везде»: в Kafka нельзя подтвердить сообщение №5, не подтвердив №4, и нельзя вернуть в очередь одно упавшее сообщение — приходится строить retry-топики.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внимание: задача — тонкий адаптер, вся доменная логика в generate_report. Именно поэтому одну и ту же функцию удалось прогнать через Celery, RQ и бенчмарк.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Тут же ответ на частый вопрос «почему у меня одна задача выполняется, а девять ждут»: prefetch_multiplier=4 при длинных задачах — воркер резервирует сообщения, которые не может выполнить.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 коде enqueue_batch — chord(group(...), summarize). И сразу оговорка: в продакшене я бы не делал цепочку длиннее 2-3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важный результат эксперимента и лучший пример «почему надо измерять»: по умолчанию RQ выглядит катастрофически медленным, но виновата не библиотека, а модель исполнения, которую можно переключить одной строкой.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про asyncio: Celery синхронный, delay() блокирует event loop на время публикации, а результат ждать через .get() внутри корутины нельзя. Выход — run_in_executor или asyncio-фреймворк.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Важный практический момент: метрика для автоскейла — длина очереди и возраст самого старого сообщения, а не загрузка CPU воркера.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слайд «почему приложение следует проектировать именно так»: у каждого решения есть область, где оно ломается, и её лучше назвать самому.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Абстракция нужна была не ради красоты: без неё сравнение Celery и RQ было бы сравнением двух разных приложений. Цена — уникальные фичи (canvas, depends_on) используются точечно внутри адаптеров, а не из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методическое решение — общий сборщик метрик: если читать AsyncResult у Celery и Job у RQ, мы будем сравнивать ещё и стоимость чтения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направо: на noop разница в разы, на cpu_small и io_sleep все конфигурации без fork сходятся в одну точку. Это главный практический вывод: выбирать надо по гарантиям и удобству, а не по бенчмаркам на пустых задачах.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Обязательно проговорить оговорки: это не бенчмарк брокеров, а порядок величин и характер масштабирования на одной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мысль: очередь задач — простая идея с дорогими деталями. Сложность не в том, чтобы поставить задачу, а в том, чтобы пережить повтор, падение и перезапуск.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Готовые ответы: почему TaskBackend, почему acks_late, почему две очереди, почему результат в файлах, почему Redis для демо и RabbitMQ для продакшена.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Очереди сообщений и фоновые задачи в Python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Celery / RQ, Redis / RabbitMQ, producer-consumer, распределённая обработка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Репозиторий:  </a:t>
            </a:r>
            <a:r>
              <a:rPr sz="1700" b="0">
                <a:solidFill>
                  <a:srgbClr val="1B2738"/>
                </a:solidFill>
                <a:latin typeface="Consolas"/>
              </a:rPr>
              <a:t>github.com/kirillkychkin/report-queue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Зачем вообще фоновые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Четыре причины вынести работу из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341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Время ответа.</a:t>
            </a:r>
            <a:r>
              <a:rPr sz="1650" b="0">
                <a:solidFill>
                  <a:srgbClr val="1B2738"/>
                </a:solidFill>
                <a:latin typeface="Segoe UI"/>
              </a:rPr>
              <a:t> Генерация отчёта, PDF, рассылка, ML-инференс — секунды и минуты. Пользователь и балансировщик столько не ждут: ответ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Accepted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идентификатор вместо висящего соединения.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Надёжность.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Внешний сервис упал — задача </a:t>
            </a:r>
            <a:r>
              <a:rPr sz="1650" b="1">
                <a:solidFill>
                  <a:srgbClr val="1B2738"/>
                </a:solidFill>
                <a:latin typeface="Segoe UI"/>
              </a:rPr>
              <a:t>повторяется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теряется вместе с запросом. Повтор с экспоненциальным backoff — встроенная функция фреймворка, а не </a:t>
            </a:r>
            <a:r>
              <a:rPr sz="1550" b="0">
                <a:solidFill>
                  <a:srgbClr val="E8590C"/>
                </a:solidFill>
                <a:latin typeface="Consolas"/>
              </a:rPr>
              <a:t>try/except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контроллере.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Сглаживание пиков.</a:t>
            </a:r>
            <a:r>
              <a:rPr sz="1650" b="0">
                <a:solidFill>
                  <a:srgbClr val="1B2738"/>
                </a:solidFill>
                <a:latin typeface="Segoe UI"/>
              </a:rPr>
              <a:t> Очередь — буфер: приходит 1000 заказов в секунду, обрабатывается 100 — растёт очередь, а не список ошибок 500.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Раздельное масштабирование.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Веб-слой и воркеры масштабируются независимо: CPU-задачи не мешают отдавать страницы.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0">
                <a:solidFill>
                  <a:srgbClr val="1B2738"/>
                </a:solidFill>
                <a:latin typeface="Segoe UI"/>
              </a:rPr>
              <a:t>Побочный эффект — </a:t>
            </a:r>
            <a:r>
              <a:rPr sz="1650" b="1">
                <a:solidFill>
                  <a:srgbClr val="1B2738"/>
                </a:solidFill>
                <a:latin typeface="Segoe UI"/>
              </a:rPr>
              <a:t>разделение ответственности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домен не знает о HTTP, воркер — тонкий адаптер.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249798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249798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377814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Очередь задач — это не «ускорение», а перенос работы во времени и обмен синхронности на надёжность.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Producer / consumer: базовый паттерн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Продьюсер, брокер, консьюмер — и три разных способа их соединить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Producer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 сообщение в брокер и сразу забывает о нём. </a:t>
            </a:r>
            <a:r>
              <a:rPr sz="1500" b="1">
                <a:solidFill>
                  <a:srgbClr val="1B2738"/>
                </a:solidFill>
                <a:latin typeface="Segoe UI"/>
              </a:rPr>
              <a:t>Consumer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забирает и выполняет. Они не знают друг о друге — связаны только форматом сообщения и именем очереди.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Work queue (очередь задач)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сообщение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один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обработчик. Несколько воркеров на одной очереди — это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competing consumers</a:t>
            </a:r>
            <a:r>
              <a:rPr sz="1500" b="0">
                <a:solidFill>
                  <a:srgbClr val="1B2738"/>
                </a:solidFill>
                <a:latin typeface="Segoe UI"/>
              </a:rPr>
              <a:t>, брокер сам раздаёт им работу.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Pub/Sub (публикация-подписка)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событие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все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подписчики, каждый со своей копией. Это уже не «задача», а уведомление о факте.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Разница принципиальна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work queue балансирует нагрузку, pub/sub размножает её. Ошибка выбора — типичная причина «почему задача выполнилась четыре раза».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В RabbitMQ обе модели — один механизм: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 типа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одной очередью против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очередью на подписчика.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Гарантии доставки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«Ровно один раз» не существует — есть идемпотентность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69131"/>
          <a:ext cx="11057837" cy="152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229"/>
                <a:gridCol w="3055455"/>
                <a:gridCol w="2982706"/>
                <a:gridCol w="3637447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Гарантия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Как достигается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Риск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Когда годится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at-most-once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сразу при получении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acks_early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потеряна при падении воркера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метрики, логи, некритичные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at-least-once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</a:t>
                      </a:r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после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выполнения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выполнится повторно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почти всё остальное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exactly-once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миф в распределённой системе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эмулируется: at-least-once +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64523"/>
            <a:ext cx="11057839" cy="2313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Сбой возможен </a:t>
            </a:r>
            <a:r>
              <a:rPr sz="1452" b="1">
                <a:solidFill>
                  <a:srgbClr val="1B2738"/>
                </a:solidFill>
                <a:latin typeface="Segoe UI"/>
              </a:rPr>
              <a:t>между</a:t>
            </a:r>
            <a:r>
              <a:rPr sz="1452" b="0">
                <a:solidFill>
                  <a:srgbClr val="1B2738"/>
                </a:solidFill>
                <a:latin typeface="Segoe UI"/>
              </a:rPr>
              <a:t> выполнением и подтверждением — поэтому «ровно один раз» недостижим без общей транзакции брокера и БД.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Практический рецепт: at-least-once + </a:t>
            </a:r>
            <a:r>
              <a:rPr sz="1452" b="1">
                <a:solidFill>
                  <a:srgbClr val="1B2738"/>
                </a:solidFill>
                <a:latin typeface="Segoe UI"/>
              </a:rPr>
              <a:t>ключ идемпотентности</a:t>
            </a:r>
            <a:r>
              <a:rPr sz="1452" b="0">
                <a:solidFill>
                  <a:srgbClr val="1B2738"/>
                </a:solidFill>
                <a:latin typeface="Segoe UI"/>
              </a:rPr>
              <a:t> (в проекте — </a:t>
            </a:r>
            <a:r>
              <a:rPr sz="1352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452" b="0">
                <a:solidFill>
                  <a:srgbClr val="1B2738"/>
                </a:solidFill>
                <a:latin typeface="Segoe UI"/>
              </a:rPr>
              <a:t>, результат перезаписывается тем же содержимым).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Если воркер молчит дольше </a:t>
            </a:r>
            <a:r>
              <a:rPr sz="1352" b="0">
                <a:solidFill>
                  <a:srgbClr val="E8590C"/>
                </a:solidFill>
                <a:latin typeface="Consolas"/>
              </a:rPr>
              <a:t>visibility timeout</a:t>
            </a:r>
            <a:r>
              <a:rPr sz="1452" b="0">
                <a:solidFill>
                  <a:srgbClr val="1B2738"/>
                </a:solidFill>
                <a:latin typeface="Segoe UI"/>
              </a:rPr>
              <a:t> (Redis) или разорвал соединение (RabbitMQ) — сообщение вернётся в очередь другому воркеру.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Dead letter</a:t>
            </a:r>
            <a:r>
              <a:rPr sz="1452" b="0">
                <a:solidFill>
                  <a:srgbClr val="1B2738"/>
                </a:solidFill>
                <a:latin typeface="Segoe UI"/>
              </a:rPr>
              <a:t>: после N неудачных попыток сообщение уходит в отдельную очередь, а не крутится вечно, блокируя воркер (</a:t>
            </a:r>
            <a:r>
              <a:rPr sz="1452" b="0" i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452" b="0">
                <a:solidFill>
                  <a:srgbClr val="1B2738"/>
                </a:solidFill>
                <a:latin typeface="Segoe UI"/>
              </a:rPr>
              <a:t>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как брокер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Структура данных вместо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06574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Как это работает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очередь — обычный список, </a:t>
            </a:r>
            <a:r>
              <a:rPr sz="1400" b="0">
                <a:solidFill>
                  <a:srgbClr val="E8590C"/>
                </a:solidFill>
                <a:latin typeface="Consolas"/>
              </a:rPr>
              <a:t>LPUSH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кладёт, </a:t>
            </a:r>
            <a:r>
              <a:rPr sz="1400" b="0">
                <a:solidFill>
                  <a:srgbClr val="E8590C"/>
                </a:solidFill>
                <a:latin typeface="Consolas"/>
              </a:rPr>
              <a:t>BRPOP</a:t>
            </a:r>
            <a:r>
              <a:rPr sz="1500" b="0">
                <a:solidFill>
                  <a:srgbClr val="1B2738"/>
                </a:solidFill>
                <a:latin typeface="Segoe UI"/>
              </a:rPr>
              <a:t> блокирующе забирает. Никакого специального протокола очередей нет.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Redis Streams</a:t>
            </a:r>
            <a:r>
              <a:rPr sz="1500" b="0">
                <a:solidFill>
                  <a:srgbClr val="1B2738"/>
                </a:solidFill>
                <a:latin typeface="Segoe UI"/>
              </a:rPr>
              <a:t> (</a:t>
            </a:r>
            <a:r>
              <a:rPr sz="1400" b="0">
                <a:solidFill>
                  <a:srgbClr val="E8590C"/>
                </a:solidFill>
                <a:latin typeface="Consolas"/>
              </a:rPr>
              <a:t>XADD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XREADGROUP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более честная модель: consumer groups, подтверждения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XACK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список «взятых, но не подтверждённых» (PEL) и история сообщений.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Персистентность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RDB (снимки) и AOF (журнал, </a:t>
            </a:r>
            <a:r>
              <a:rPr sz="1400" b="0">
                <a:solidFill>
                  <a:srgbClr val="E8590C"/>
                </a:solidFill>
                <a:latin typeface="Consolas"/>
              </a:rPr>
              <a:t>appendfsync everysec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при падении теряется до секунды записей.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Чего нет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настоящих ack для списков, exchange и маршрутизации, DLX, приоритетов (Celery эмулирует их несколькими списками), publisher confirms.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Ack эмулируется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(по умолчанию 1 час у Celery): задача, выполняющаяся дольше, будет выдана повторно другому воркеру — классическая ловушка.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3664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3664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6465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Redis — брокер «в подарок», если он уже есть в проекте. Его слабое место не скорость, а гарантии.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RabbitMQ: AMQP 0-9-1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Брокер, спроектированный как брокер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Маршрутизация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продьюсер публикует не в очередь, а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; </a:t>
            </a:r>
            <a:r>
              <a:rPr sz="1400" b="0">
                <a:solidFill>
                  <a:srgbClr val="E8590C"/>
                </a:solidFill>
                <a:latin typeface="Consolas"/>
              </a:rPr>
              <a:t>binding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 ключу решает, в какие очереди попадёт копия. Типы: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topic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headers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Подтверждения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basic_nack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basic_reject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requeue=True/False</a:t>
            </a:r>
            <a:r>
              <a:rPr sz="1500" b="0">
                <a:solidFill>
                  <a:srgbClr val="1B2738"/>
                </a:solidFill>
                <a:latin typeface="Segoe UI"/>
              </a:rPr>
              <a:t>; на стороне продьюсера —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publisher confirms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1">
                <a:solidFill>
                  <a:srgbClr val="E8590C"/>
                </a:solidFill>
                <a:latin typeface="Consolas"/>
              </a:rPr>
              <a:t>prefetch_count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ограничивает число невыполненных сообщений на потребителя: без него быстрый воркер заберёт всю очередь, а медленный будет простаивать.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Durable queue + persistent message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очередь и сообщения переживают перезапуск брокера (ценой fsync).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DLX</a:t>
            </a:r>
            <a:r>
              <a:rPr sz="1500" b="0">
                <a:solidFill>
                  <a:srgbClr val="1B2738"/>
                </a:solidFill>
                <a:latin typeface="Segoe UI"/>
              </a:rPr>
              <a:t> (dead-letter exchange), TTL сообщений, лимиты длины очереди, приоритеты — встроены; Management UI на </a:t>
            </a:r>
            <a:r>
              <a:rPr sz="1400" b="0">
                <a:solidFill>
                  <a:srgbClr val="E8590C"/>
                </a:solidFill>
                <a:latin typeface="Consolas"/>
              </a:rPr>
              <a:t>:15672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показывает очереди, скорость, потребителей.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vs RabbitMQ vs Kafka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Разные инструменты, а не разные версии одного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08877"/>
          <a:ext cx="11057837" cy="233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3619"/>
                <a:gridCol w="2804524"/>
                <a:gridCol w="3044912"/>
                <a:gridCol w="2964782"/>
              </a:tblGrid>
              <a:tr h="389656"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Критерий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Redis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RabbitMQ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Kafka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список / stream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AMQP: exchange → binding → queue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распределённый лог с партициями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Подтверждения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эмуляция (visibility timeout)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настоящие ack/nack, confirms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offset коммитится потребителем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Маршрутизация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богатая (topic, fanout, headers)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 партициям/топикам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Сообщение после чтения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 после ack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1B2738"/>
                          </a:solidFill>
                          <a:latin typeface="Segoe UI"/>
                        </a:rPr>
                        <a:t>остаётся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можно перечитать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Цена эксплуатации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минимальная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средняя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высокая (ZK/KRaft, диски)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21133"/>
            <a:ext cx="11057839" cy="14167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1">
                <a:solidFill>
                  <a:srgbClr val="1B2738"/>
                </a:solidFill>
                <a:latin typeface="Segoe UI"/>
              </a:rPr>
              <a:t>Kafka — это не очередь задач</a:t>
            </a:r>
            <a:r>
              <a:rPr sz="1840" b="0">
                <a:solidFill>
                  <a:srgbClr val="1B2738"/>
                </a:solidFill>
                <a:latin typeface="Segoe UI"/>
              </a:rPr>
              <a:t>: нет «взять одну задачу и подтвердить её», порядок держится внутри партиции, а параллелизм ограничен числом партиций. Её сила — история событий и replay.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0">
                <a:solidFill>
                  <a:srgbClr val="1B2738"/>
                </a:solidFill>
                <a:latin typeface="Segoe UI"/>
              </a:rPr>
              <a:t>Практическое правило: </a:t>
            </a:r>
            <a:r>
              <a:rPr sz="1840" b="1">
                <a:solidFill>
                  <a:srgbClr val="1B2738"/>
                </a:solidFill>
                <a:latin typeface="Segoe UI"/>
              </a:rPr>
              <a:t>задача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Redis/RabbitMQ; </a:t>
            </a:r>
            <a:r>
              <a:rPr sz="1840" b="1">
                <a:solidFill>
                  <a:srgbClr val="1B2738"/>
                </a:solidFill>
                <a:latin typeface="Segoe UI"/>
              </a:rPr>
              <a:t>событие, которое читают несколько систем и перечитывают позже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Kafka.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Де-факто стандарт фоновых задач в Python (с 2009 года)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73072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Пять сущностей: </a:t>
            </a:r>
            <a:r>
              <a:rPr sz="1500" b="1">
                <a:solidFill>
                  <a:srgbClr val="1B2738"/>
                </a:solidFill>
                <a:latin typeface="Segoe UI"/>
              </a:rPr>
              <a:t>app</a:t>
            </a:r>
            <a:r>
              <a:rPr sz="1500" b="0">
                <a:solidFill>
                  <a:srgbClr val="1B2738"/>
                </a:solidFill>
                <a:latin typeface="Segoe UI"/>
              </a:rPr>
              <a:t> (реестр задач и конфиг),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broker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(транспорт), </a:t>
            </a:r>
            <a:r>
              <a:rPr sz="1500" b="1">
                <a:solidFill>
                  <a:srgbClr val="1B2738"/>
                </a:solidFill>
                <a:latin typeface="Segoe UI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(процесс-исполнитель), </a:t>
            </a:r>
            <a:r>
              <a:rPr sz="1500" b="1">
                <a:solidFill>
                  <a:srgbClr val="1B2738"/>
                </a:solidFill>
                <a:latin typeface="Segoe UI"/>
              </a:rPr>
              <a:t>result backend</a:t>
            </a:r>
            <a:r>
              <a:rPr sz="1500" b="0">
                <a:solidFill>
                  <a:srgbClr val="1B2738"/>
                </a:solidFill>
                <a:latin typeface="Segoe UI"/>
              </a:rPr>
              <a:t> (куда кладётся результат и статус),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beat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(планировщик периодических задач).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kombu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слой абстракции транспорта: один и тот же код работает на RabbitMQ, Redis, SQS. В проекте брокер меняется переменной окружения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BROKER_URL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код задач не меняется.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Задача — функция с декоратором;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task.delay(args)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 публикует сообщение, </a:t>
            </a:r>
            <a:r>
              <a:rPr sz="1400" b="0">
                <a:solidFill>
                  <a:srgbClr val="E8590C"/>
                </a:solidFill>
                <a:latin typeface="Consolas"/>
              </a:rPr>
              <a:t>AsyncResult(id)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читает состояние.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Сериализация только JSON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pickle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это исполнение произвольного кода при доступе к брокеру (RCE) и жёсткая привязка к версии классов.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Ловушка: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означает «я про этот id ничего не знаю» — незапущенные задачи в result backend не хранятся. Отличить «в очереди» от «такого заказа нет» нельзя.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803140"/>
            <a:ext cx="11057839" cy="1215644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922012"/>
            <a:ext cx="10728655" cy="1215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1B2738"/>
                </a:solidFill>
                <a:latin typeface="Consolas"/>
              </a:rPr>
              <a:t>@app.task(bind=True, acks_late=True, time_limit=600)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def generate_report_task(self, report_id: str, params: dict) -&gt; dict: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def progress(pct, step):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    self.update_state(state="PROGRESS", meta={"progress": pct, "step": step})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return generate_report(report_id, ReportParams(**params), progress).model_dump()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настройки, которые меняют поведение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Умолчания — это архитектурные решения, принятые за вас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88969"/>
          <a:ext cx="11057837" cy="18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836"/>
                <a:gridCol w="1618220"/>
                <a:gridCol w="2607132"/>
                <a:gridCol w="3955649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Настройка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Умолчание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Что делаем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task_acks_late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задачу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worker_prefetch_multiplier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честное распределение между воркерами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task_time_limit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soft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есть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зависшая задача не держит воркер вечно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task_routes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одна очередь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тяжёлое не блокирует быстрое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17689"/>
            <a:ext cx="11057839" cy="2140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Пулы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prefork</a:t>
            </a:r>
            <a:r>
              <a:rPr sz="1512" b="0">
                <a:solidFill>
                  <a:srgbClr val="1B2738"/>
                </a:solidFill>
                <a:latin typeface="Segoe UI"/>
              </a:rPr>
              <a:t> (по умолчанию, процессы — для CPU), </a:t>
            </a:r>
            <a:r>
              <a:rPr sz="1412" b="0">
                <a:solidFill>
                  <a:srgbClr val="E8590C"/>
                </a:solidFill>
                <a:latin typeface="Consolas"/>
              </a:rPr>
              <a:t>threads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gevent</a:t>
            </a:r>
            <a:r>
              <a:rPr sz="1512" b="0">
                <a:solidFill>
                  <a:srgbClr val="1B2738"/>
                </a:solidFill>
                <a:latin typeface="Segoe UI"/>
              </a:rPr>
              <a:t>/</a:t>
            </a:r>
            <a:r>
              <a:rPr sz="1412" b="0">
                <a:solidFill>
                  <a:srgbClr val="E8590C"/>
                </a:solidFill>
                <a:latin typeface="Consolas"/>
              </a:rPr>
              <a:t>eventlet</a:t>
            </a:r>
            <a:r>
              <a:rPr sz="1512" b="0">
                <a:solidFill>
                  <a:srgbClr val="1B2738"/>
                </a:solidFill>
                <a:latin typeface="Segoe UI"/>
              </a:rPr>
              <a:t> (тысячи IO-задач на процесс), </a:t>
            </a:r>
            <a:r>
              <a:rPr sz="1412" b="0">
                <a:solidFill>
                  <a:srgbClr val="E8590C"/>
                </a:solidFill>
                <a:latin typeface="Consolas"/>
              </a:rPr>
              <a:t>solo</a:t>
            </a:r>
            <a:r>
              <a:rPr sz="1512" b="0">
                <a:solidFill>
                  <a:srgbClr val="1B2738"/>
                </a:solidFill>
                <a:latin typeface="Segoe UI"/>
              </a:rPr>
              <a:t> (один поток — отладка, Windows).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Повторы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autoretry_for=(ConnectionError,)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retry_backoff=True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retry_jitter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без jitter все повторы придут одновременно и добьют внешний сервис.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1">
                <a:solidFill>
                  <a:srgbClr val="E8590C"/>
                </a:solidFill>
                <a:latin typeface="Consolas"/>
              </a:rPr>
              <a:t>rate_limit</a:t>
            </a:r>
            <a:r>
              <a:rPr sz="1512" b="0">
                <a:solidFill>
                  <a:srgbClr val="1B2738"/>
                </a:solidFill>
                <a:latin typeface="Segoe UI"/>
              </a:rPr>
              <a:t> ограничивает частоту — обязательная вещь при работе с чужим API.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0">
                <a:solidFill>
                  <a:srgbClr val="E8590C"/>
                </a:solidFill>
                <a:latin typeface="Consolas"/>
              </a:rPr>
              <a:t>worker_max_tasks_per_child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перезапуск процесса каждые N задач: дёшевый способ пережить утечки памяти в чужих библиотеках.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 canvas: композиция задач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Пайплайны декларативно, без ручного связывания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50033"/>
            <a:ext cx="11057839" cy="29466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signature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«замороженный» вызов задачи, который можно передавать и комбинировать.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chain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fetch | aggregate | render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результат предыдущей уходит аргументом в следующую (в проекте: отчёт → уведомление).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параллельный запуск N задач; </a:t>
            </a:r>
            <a:r>
              <a:rPr sz="1550" b="1">
                <a:solidFill>
                  <a:srgbClr val="E8590C"/>
                </a:solidFill>
                <a:latin typeface="Consolas"/>
              </a:rPr>
              <a:t>chord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</a:t>
            </a:r>
            <a:r>
              <a:rPr sz="1550" b="0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завершающая задача, которая получает список результатов (в проекте: пакет из N отчётов → сводка).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starmap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chunks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для массовой обработки однотипных элементов одной задачей.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Когда canvas — плохая идея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длинные цепочки с ветвлением и условиями превращаются в неотлаживаемый граф; chord на Redis требует синхронизации и умеет «залипать»; состояние процесса не видно целиком. Для бизнес-процессов с компенсациями лучше workflow-движок (Temporal, Prefect).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RQ: минимализм как принцип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Redis Queue — весь фреймворк читается за вечер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69414"/>
            <a:ext cx="11057839" cy="272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Три сущности: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. Постановка —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queue.enqueue(func, *args)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, никаких декораторов и реестра задач.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Fork на каждую задачу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: воркер порождает дочерний процесс, задача выполняется там. Падение, утечка памяти, </a:t>
            </a:r>
            <a:r>
              <a:rPr sz="1400" b="0">
                <a:solidFill>
                  <a:srgbClr val="E8590C"/>
                </a:solidFill>
                <a:latin typeface="Consolas"/>
              </a:rPr>
              <a:t>segfault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задаче не трогают воркер и следующие задачи.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Честные статусы: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queued / started / deferred / scheduled / finished / failed</a:t>
            </a:r>
            <a:r>
              <a:rPr sz="1500" b="0">
                <a:solidFill>
                  <a:srgbClr val="1B2738"/>
                </a:solidFill>
                <a:latin typeface="Segoe UI"/>
              </a:rPr>
              <a:t> +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Job.fetch(id)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можно отличить «нет такого заказа» и вернуть 404 (Celery так не умеет).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0">
                <a:solidFill>
                  <a:srgbClr val="E8590C"/>
                </a:solidFill>
                <a:latin typeface="Consolas"/>
              </a:rPr>
              <a:t>Retry(max=3, interval=[1, 2, 4])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depends_on</a:t>
            </a:r>
            <a:r>
              <a:rPr sz="1500" b="0">
                <a:solidFill>
                  <a:srgbClr val="1B2738"/>
                </a:solidFill>
                <a:latin typeface="Segoe UI"/>
              </a:rPr>
              <a:t> (задача стартует после успеха другой),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job.meta</a:t>
            </a:r>
            <a:r>
              <a:rPr sz="1500" b="0">
                <a:solidFill>
                  <a:srgbClr val="1B2738"/>
                </a:solidFill>
                <a:latin typeface="Segoe UI"/>
              </a:rPr>
              <a:t> для прогресса, failed job registry для разбора ошибок.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Ограничения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только Redis; нет canvas (chord собирается вручную); не работает на Windows (нужен </a:t>
            </a:r>
            <a:r>
              <a:rPr sz="1400" b="0">
                <a:solidFill>
                  <a:srgbClr val="E8590C"/>
                </a:solidFill>
                <a:latin typeface="Consolas"/>
              </a:rPr>
              <a:t>fork</a:t>
            </a:r>
            <a:r>
              <a:rPr sz="1500" b="0">
                <a:solidFill>
                  <a:srgbClr val="1B2738"/>
                </a:solidFill>
                <a:latin typeface="Segoe UI"/>
              </a:rPr>
              <a:t>); отложенные повторы требуют воркера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--with-scheduler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999481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999481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27497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Цена изоляции: </a:t>
            </a:r>
            <a:r>
              <a:rPr sz="1500" b="0">
                <a:solidFill>
                  <a:srgbClr val="E8590C"/>
                </a:solidFill>
                <a:latin typeface="Consolas"/>
              </a:rPr>
              <a:t>fork</a:t>
            </a:r>
            <a:r>
              <a:rPr sz="1600" b="0">
                <a:solidFill>
                  <a:srgbClr val="1B2738"/>
                </a:solidFill>
                <a:latin typeface="Segoe UI"/>
              </a:rPr>
              <a:t> ≈ 75 мс на задачу в Docker Desktop — на микрозадачах это в 20 раз медленнее Celery. </a:t>
            </a:r>
            <a:r>
              <a:rPr sz="150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00" b="0">
                <a:solidFill>
                  <a:srgbClr val="1B2738"/>
                </a:solidFill>
                <a:latin typeface="Segoe UI"/>
              </a:rPr>
              <a:t> убирает цену вместе с изоляцией.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Современные альтернативы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Celery и RQ — не единственный выбор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38858"/>
          <a:ext cx="11057838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226"/>
                <a:gridCol w="5172215"/>
                <a:gridCol w="3745397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Инструмент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Чем интересен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Когда брать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Dramatiq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простой API, надёжность «из коробки», RabbitMQ/Redis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нужен Celery без его сложности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asyncio-native, один Redis, минимум кода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целиком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Taskiq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asyncio, типизация, DI в стиле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FastAPI-проект, важны типы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Huey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очень маленький, есть SQLite-режим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небольшой сервис, не хочется брокера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APScheduler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планировщик, а не очередь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только периодические задания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долгие workflow, состояние, компенсации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бизнес-процессы на часы и дни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37506"/>
            <a:ext cx="11057839" cy="1470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820" b="1">
                <a:solidFill>
                  <a:srgbClr val="E8590C"/>
                </a:solidFill>
                <a:latin typeface="Consolas"/>
              </a:rPr>
              <a:t>FastAPI BackgroundTasks</a:t>
            </a:r>
            <a:r>
              <a:rPr sz="1920" b="0">
                <a:solidFill>
                  <a:srgbClr val="1B2738"/>
                </a:solidFill>
                <a:latin typeface="Segoe UI"/>
              </a:rPr>
              <a:t> — выполнение после ответа </a:t>
            </a:r>
            <a:r>
              <a:rPr sz="1920" b="1">
                <a:solidFill>
                  <a:srgbClr val="1B2738"/>
                </a:solidFill>
                <a:latin typeface="Segoe UI"/>
              </a:rPr>
              <a:t>в том же процессе</a:t>
            </a:r>
            <a:r>
              <a:rPr sz="1920" b="0">
                <a:solidFill>
                  <a:srgbClr val="1B2738"/>
                </a:solidFill>
                <a:latin typeface="Segoe UI"/>
              </a:rPr>
              <a:t>: подходит для «отправить письмо, не страшно потерять»; переживания перезапуска нет, масштабирования нет.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920" b="0">
                <a:solidFill>
                  <a:srgbClr val="1B2738"/>
                </a:solidFill>
                <a:latin typeface="Segoe UI"/>
              </a:rPr>
              <a:t>Celery остаётся выбором по умолчанию из-за экосистемы (Flower, интеграции, ответы на все вопросы), а не потому, что он лучший технически.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Масштабирование очередью и его отказы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99335"/>
            <a:ext cx="11057839" cy="34480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Горизонтально</a:t>
            </a:r>
            <a:r>
              <a:rPr sz="1500" b="0">
                <a:solidFill>
                  <a:srgbClr val="1B2738"/>
                </a:solidFill>
                <a:latin typeface="Segoe UI"/>
              </a:rPr>
              <a:t>: добавить воркер = запустить ещё один процесс. Координации нет — раздаёт брокер. В эксперименте 1 → 4 воркера дали ускорение </a:t>
            </a:r>
            <a:r>
              <a:rPr sz="1500" b="1">
                <a:solidFill>
                  <a:srgbClr val="1B2738"/>
                </a:solidFill>
                <a:latin typeface="Segoe UI"/>
              </a:rPr>
              <a:t>×3,4–4,1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на реальных задачах.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Разделение по очередям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вместо приоритетов: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reports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(тяжёлые, CPU) и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notifications</a:t>
            </a:r>
            <a:r>
              <a:rPr sz="1500" b="0">
                <a:solidFill>
                  <a:srgbClr val="1B2738"/>
                </a:solidFill>
                <a:latin typeface="Segoe UI"/>
              </a:rPr>
              <a:t> (быстрые, IO) — разные воркеры, разное число реплик, отказ одной очереди не блокирует другую.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Шардирование по ключу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когда важен порядок внутри сущности: все задачи одного клиента — в одну очередь/на один воркер.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Отказы, к которым надо быть готовым: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дубли</a:t>
            </a:r>
            <a:r>
              <a:rPr sz="1250" b="0">
                <a:solidFill>
                  <a:srgbClr val="5B6B7C"/>
                </a:solidFill>
                <a:latin typeface="Segoe UI"/>
              </a:rPr>
              <a:t> (at-least-once) → идемпотентность;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счётчик попыток и dead-letter;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сетевой разрыв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переподключение, повторная доставка неподтверждённых;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«горячая» очередь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автоскейл по длине очереди, а не по CPU;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отравленный воркер</a:t>
            </a:r>
            <a:r>
              <a:rPr sz="1250" b="0">
                <a:solidFill>
                  <a:srgbClr val="5B6B7C"/>
                </a:solidFill>
                <a:latin typeface="Segoe UI"/>
              </a:rPr>
              <a:t> (утечка памяти) → </a:t>
            </a:r>
            <a:r>
              <a:rPr sz="1150" b="0">
                <a:solidFill>
                  <a:srgbClr val="E8590C"/>
                </a:solidFill>
                <a:latin typeface="Consolas"/>
              </a:rPr>
              <a:t>max_tasks_per_child</a:t>
            </a:r>
            <a:r>
              <a:rPr sz="1250" b="0">
                <a:solidFill>
                  <a:srgbClr val="5B6B7C"/>
                </a:solidFill>
                <a:latin typeface="Segoe UI"/>
              </a:rPr>
              <a:t> / fork.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Где подход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Честные границы применимости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91740"/>
            <a:ext cx="1105783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Транзакционность.</a:t>
            </a:r>
            <a:r>
              <a:rPr sz="1500" b="0">
                <a:solidFill>
                  <a:srgbClr val="1B2738"/>
                </a:solidFill>
                <a:latin typeface="Segoe UI"/>
              </a:rPr>
              <a:t> «Записать в БД и поставить задачу» — не атомарно: задача может стартовать раньше commit'а или потеряться при откате. Решение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transactional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задача пишется в ту же БД, отдельный процесс публикует.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Строгий порядок.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Несколько воркеров = порядка нет; повтор отправляет сообщение в конец очереди. Нужен порядок — один потребитель на ключ или Kafka с партициями.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Долгие задачи на Redis.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(1 ч) меньше длительности задачи → задача выдаётся второму воркеру, и оба пишут результат.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Синхронный Celery в asyncio-приложении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блокировка event loop; нужен arq/Taskiq или executor.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Большие payload.</a:t>
            </a:r>
            <a:r>
              <a:rPr sz="1500" b="0">
                <a:solidFill>
                  <a:srgbClr val="1B2738"/>
                </a:solidFill>
                <a:latin typeface="Segoe UI"/>
              </a:rPr>
              <a:t> Сообщение должно быть маленьким: файлы и датасеты — в S3/volume, в сообщении — ссылка. Брокер — не хранилище.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Запрос-ответ за миллисекунды.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Очередь добавляет от единиц до сотен мс — это не замена RPC/gRPC.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Демо-проект: генерация отчётов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Одна доменная функция, два фреймворка очередей, два брокера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64768"/>
            <a:ext cx="11057839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00" b="0">
                <a:solidFill>
                  <a:srgbClr val="1B2738"/>
                </a:solidFill>
                <a:latin typeface="Segoe UI"/>
              </a:rPr>
              <a:t>: </a:t>
            </a:r>
            <a:r>
              <a:rPr sz="150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фоновая генерация (pandas → агрегаты → CSV + PNG + PDF)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с прогрессом → скачивание артефактов.</a:t>
            </a:r>
          </a:p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Три слоя и их незнание друг о друге</a:t>
            </a:r>
            <a:r>
              <a:rPr sz="1600" b="0">
                <a:solidFill>
                  <a:srgbClr val="1B2738"/>
                </a:solidFill>
                <a:latin typeface="Segoe UI"/>
              </a:rPr>
              <a:t>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962048"/>
          <a:ext cx="11057837" cy="144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9382"/>
                <a:gridCol w="4009985"/>
                <a:gridCol w="3888470"/>
              </a:tblGrid>
              <a:tr h="361492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адаптеры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протоколе </a:t>
                      </a:r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682336"/>
            <a:ext cx="11057839" cy="707136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01208"/>
            <a:ext cx="10728655" cy="707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80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54064"/>
            <a:ext cx="11057839" cy="627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0">
                <a:solidFill>
                  <a:srgbClr val="1B2738"/>
                </a:solidFill>
                <a:latin typeface="Segoe UI"/>
              </a:rPr>
              <a:t>Переключение </a:t>
            </a:r>
            <a:r>
              <a:rPr sz="1500" b="0">
                <a:solidFill>
                  <a:srgbClr val="E8590C"/>
                </a:solidFill>
                <a:latin typeface="Consolas"/>
              </a:rPr>
              <a:t>TASK_BACKEND=celery|rq</a:t>
            </a:r>
            <a:r>
              <a:rPr sz="1600" b="0">
                <a:solidFill>
                  <a:srgbClr val="1B2738"/>
                </a:solidFill>
                <a:latin typeface="Segoe UI"/>
              </a:rPr>
              <a:t> и </a:t>
            </a:r>
            <a:r>
              <a:rPr sz="1500" b="0">
                <a:solidFill>
                  <a:srgbClr val="E8590C"/>
                </a:solidFill>
                <a:latin typeface="Consolas"/>
              </a:rPr>
              <a:t>BROKER_URL=redis://|amqp://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переменные окружения, код не меняется. Плюс </a:t>
            </a:r>
            <a:r>
              <a:rPr sz="1500" b="0">
                <a:solidFill>
                  <a:srgbClr val="E8590C"/>
                </a:solidFill>
                <a:latin typeface="Consolas"/>
              </a:rPr>
              <a:t>raw_amqp.py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producer/consumer на голом pika, чтобы показать механику без фреймворка.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методика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4 конфигурации × 3 типа задач × 3 масштаба × 3 повтора = 135 прогонов, 81 минута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65747"/>
          <a:ext cx="11057838" cy="194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0036"/>
                <a:gridCol w="6927802"/>
              </a:tblGrid>
              <a:tr h="389656"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Модель исполнения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prefork,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concurrency=1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то же, брокер AMQP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1B2738"/>
                          </a:solidFill>
                          <a:latin typeface="Segoe UI"/>
                        </a:rPr>
                        <a:t>fork на каждую задачу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 — умолчание RQ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задача в процессе воркера — аналог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--pool=solo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88347"/>
            <a:ext cx="11057839" cy="1892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Задачи</a:t>
            </a:r>
            <a:r>
              <a:rPr sz="1518" b="0">
                <a:solidFill>
                  <a:srgbClr val="1B2738"/>
                </a:solidFill>
                <a:latin typeface="Segoe UI"/>
              </a:rPr>
              <a:t>: </a:t>
            </a:r>
            <a:r>
              <a:rPr sz="1418" b="0">
                <a:solidFill>
                  <a:srgbClr val="E8590C"/>
                </a:solidFill>
                <a:latin typeface="Consolas"/>
              </a:rPr>
              <a:t>noop</a:t>
            </a:r>
            <a:r>
              <a:rPr sz="1518" b="0">
                <a:solidFill>
                  <a:srgbClr val="1B2738"/>
                </a:solidFill>
                <a:latin typeface="Segoe UI"/>
              </a:rPr>
              <a:t> (чистые накладные расходы), </a:t>
            </a:r>
            <a:r>
              <a:rPr sz="1418" b="0">
                <a:solidFill>
                  <a:srgbClr val="E8590C"/>
                </a:solidFill>
                <a:latin typeface="Consolas"/>
              </a:rPr>
              <a:t>cpu_small</a:t>
            </a:r>
            <a:r>
              <a:rPr sz="1518" b="0">
                <a:solidFill>
                  <a:srgbClr val="1B2738"/>
                </a:solidFill>
                <a:latin typeface="Segoe UI"/>
              </a:rPr>
              <a:t> (агрегация 10 000 строк + график, ≈60 мс CPU), </a:t>
            </a:r>
            <a:r>
              <a:rPr sz="1418" b="0">
                <a:solidFill>
                  <a:srgbClr val="E8590C"/>
                </a:solidFill>
                <a:latin typeface="Consolas"/>
              </a:rPr>
              <a:t>io_sleep</a:t>
            </a:r>
            <a:r>
              <a:rPr sz="1518" b="0">
                <a:solidFill>
                  <a:srgbClr val="1B2738"/>
                </a:solidFill>
                <a:latin typeface="Segoe UI"/>
              </a:rPr>
              <a:t> (50 мс ожидания).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Нагрузка</a:t>
            </a:r>
            <a:r>
              <a:rPr sz="1518" b="0">
                <a:solidFill>
                  <a:srgbClr val="1B2738"/>
                </a:solidFill>
                <a:latin typeface="Segoe UI"/>
              </a:rPr>
              <a:t>: N = 1000 (для </a:t>
            </a:r>
            <a:r>
              <a:rPr sz="1418" b="0">
                <a:solidFill>
                  <a:srgbClr val="E8590C"/>
                </a:solidFill>
                <a:latin typeface="Consolas"/>
              </a:rPr>
              <a:t>noop</a:t>
            </a:r>
            <a:r>
              <a:rPr sz="1518" b="0">
                <a:solidFill>
                  <a:srgbClr val="1B2738"/>
                </a:solidFill>
                <a:latin typeface="Segoe UI"/>
              </a:rPr>
              <a:t> ещё 5000); воркеров 1 / 2 / 4 — отдельные контейнеры (</a:t>
            </a:r>
            <a:r>
              <a:rPr sz="1418" b="0">
                <a:solidFill>
                  <a:srgbClr val="E8590C"/>
                </a:solidFill>
                <a:latin typeface="Consolas"/>
              </a:rPr>
              <a:t>docker compose --scale</a:t>
            </a:r>
            <a:r>
              <a:rPr sz="1518" b="0">
                <a:solidFill>
                  <a:srgbClr val="1B2738"/>
                </a:solidFill>
                <a:latin typeface="Segoe UI"/>
              </a:rPr>
              <a:t>).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Метрики</a:t>
            </a:r>
            <a:r>
              <a:rPr sz="1518" b="0">
                <a:solidFill>
                  <a:srgbClr val="1B2738"/>
                </a:solidFill>
                <a:latin typeface="Segoe UI"/>
              </a:rPr>
              <a:t>: скорость постановки, throughput, задержка p50/p95/p99 от постановки до завершения. Каждая задача сама пишет timestamps в Redis — сборщик один для всех фреймворков, результат не зависит от особенностей result backend.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0">
                <a:solidFill>
                  <a:srgbClr val="1B2738"/>
                </a:solidFill>
                <a:latin typeface="Segoe UI"/>
              </a:rPr>
              <a:t>Медиана трёх повторов; перед каждым прогоном очередь очищается и ожидается нужное число живых воркеров.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пропускная способность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0423"/>
            <a:ext cx="11057839" cy="320517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20532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20532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33333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От ≈50 мс полезной работы на задачу фреймворк и брокер перестают влиять на пропускную способность.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цифры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N = 1000, медиана трёх повторов, задач в секунду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32433"/>
          <a:ext cx="11057836" cy="190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3336"/>
                <a:gridCol w="2287828"/>
                <a:gridCol w="2923336"/>
                <a:gridCol w="2923336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302 → 739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17 → 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≈900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474 → 1336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19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≈1600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13 → 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7 → 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300 → 846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19 → 64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08093"/>
            <a:ext cx="11057839" cy="20061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Накладные расходы очереди ≈ 3 мс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задачу end-to-end: Celery + Redis, 4 воркера, ненакопленная очередь — p50 = 3 мс, p99 = 4 мс.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RabbitMQ под Celery быстрее Redis в 1,5–1,8 раза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коротких задачах и на постановке — распространённое «RabbitMQ тяжёлый и медленный» не подтвердилось.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Fork в RQ стоит порядок величины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микрозадачах и ×2,5 на 60-мс задачах. </a:t>
            </a:r>
            <a:r>
              <a:rPr sz="122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320" b="0">
                <a:solidFill>
                  <a:srgbClr val="1B2738"/>
                </a:solidFill>
                <a:latin typeface="Segoe UI"/>
              </a:rPr>
              <a:t> уравнивает RQ с Celery.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0">
                <a:solidFill>
                  <a:srgbClr val="1B2738"/>
                </a:solidFill>
                <a:latin typeface="Segoe UI"/>
              </a:rPr>
              <a:t>Масштабирование ×3,4–4,1 на 4 воркерах; </a:t>
            </a:r>
            <a:r>
              <a:rPr sz="1220" b="0">
                <a:solidFill>
                  <a:srgbClr val="E8590C"/>
                </a:solidFill>
                <a:latin typeface="Consolas"/>
              </a:rPr>
              <a:t>noop</a:t>
            </a:r>
            <a:r>
              <a:rPr sz="1320" b="0">
                <a:solidFill>
                  <a:srgbClr val="1B2738"/>
                </a:solidFill>
                <a:latin typeface="Segoe UI"/>
              </a:rPr>
              <a:t> у Celery + Redis упёрся не в воркеров, а в </a:t>
            </a:r>
            <a:r>
              <a:rPr sz="1320" b="1">
                <a:solidFill>
                  <a:srgbClr val="1B2738"/>
                </a:solidFill>
                <a:latin typeface="Segoe UI"/>
              </a:rPr>
              <a:t>продьюсера</a:t>
            </a:r>
            <a:r>
              <a:rPr sz="1320" b="0">
                <a:solidFill>
                  <a:srgbClr val="1B2738"/>
                </a:solidFill>
                <a:latin typeface="Segoe UI"/>
              </a:rPr>
              <a:t> (740 msg/s) — на микрозадачах узкое место в постановке.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0">
                <a:solidFill>
                  <a:srgbClr val="1B2738"/>
                </a:solidFill>
                <a:latin typeface="Segoe UI"/>
              </a:rPr>
              <a:t>Оговорки: один хост, Docker Desktop/WSL2 (fork дороже), включённые события для Flower у Celery, «наивная» постановка без батчинга.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Выводы: чеклист выбора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брать под конкретную задачу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68348"/>
          <a:ext cx="11057838" cy="29969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3911"/>
                <a:gridCol w="6153927"/>
              </a:tblGrid>
              <a:tr h="33299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Ситуация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Задача &lt; 10 мс, потеря 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BackgroundTasks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asyncio.create_task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— без брокера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Тысячи коротких задач в секунду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 (prefork/threads) или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; </a:t>
                      </a:r>
                      <a:r>
                        <a:rPr sz="950" b="1">
                          <a:solidFill>
                            <a:srgbClr val="1B2738"/>
                          </a:solidFill>
                          <a:latin typeface="Segoe UI"/>
                        </a:rPr>
                        <a:t>не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Пайплайны, периодика, приоритеты, разные пулы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Уже есть Redis, задач немного, важна простота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Потеря задачи недопустима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RabbitMQ +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+ идемпотентность + DLX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arq / Taskiq / Dramatiq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Нужен порядок событий и replay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Kafka / Redis Streams — это не очередь задач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Долгие процессы с компенсациями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39614"/>
            <a:ext cx="11057839" cy="1038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Идемпотентность — не опция</a:t>
            </a:r>
            <a:r>
              <a:rPr sz="1520" b="0">
                <a:solidFill>
                  <a:srgbClr val="1B2738"/>
                </a:solidFill>
                <a:latin typeface="Segoe UI"/>
              </a:rPr>
              <a:t>, а условие корректности при at-least-once.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Умолчания фреймворков меняют гарантии и скорость в разы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их нужно выбирать осознанно.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520" b="0">
                <a:solidFill>
                  <a:srgbClr val="1B2738"/>
                </a:solidFill>
                <a:latin typeface="Segoe UI"/>
              </a:rPr>
              <a:t>: разница RQ </a:t>
            </a:r>
            <a:r>
              <a:rPr sz="142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и </a:t>
            </a:r>
            <a:r>
              <a:rPr sz="142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20×, разница Redis и RabbitMQ на реальных задачах — 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Спасибо за внимание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161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Репозиторий проекта: </a:t>
            </a:r>
            <a:r>
              <a:rPr sz="1900" b="0">
                <a:solidFill>
                  <a:srgbClr val="E8590C"/>
                </a:solidFill>
                <a:latin typeface="Consolas"/>
              </a:rPr>
              <a:t>github.com/kirillkychkin/report-queue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Запуск демо одной командой: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20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900" b="0">
                <a:solidFill>
                  <a:srgbClr val="E8590C"/>
                </a:solidFill>
                <a:latin typeface="Consolas"/>
              </a:rPr>
              <a:t>http://localhost:8000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В репозитории: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docs/architecture.md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(решения и альтернативы),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(методика и данные),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docs/conclusions.md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(выводы),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bench/results/</a:t>
            </a:r>
            <a:r>
              <a:rPr sz="2000" b="0">
                <a:solidFill>
                  <a:srgbClr val="1B2738"/>
                </a:solidFill>
                <a:latin typeface="Segoe UI"/>
              </a:rPr>
              <a:t> (135 прогонов, графики).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