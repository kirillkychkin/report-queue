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того, что демо не «игрушечное»: задача действительно долгая, действительно пишет файлы и действительно требует прогресса.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воркеры только в Docker — RQ использует fork (нет на Windows), Celery prefork на Windows нестабилен. Это зафиксированное архитектурное ограничение, а не лень.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спросят «зачем абстракция, это же оверинжиниринг»: без неё сравнение Celery и RQ было бы сравнением двух разных приложений, а не двух очередей.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важен: сначала «работает», потом «масштабируется», потом «не теряет», и только в конце — «а вот как это устроено без фреймворка».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Оркестратор bench/run_matrix.py сам поднимает нужное число воркеров через docker compose --scale, чистит очередь и ждёт живых воркеров перед каждым прогоном.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методическое решение: timestamps пишет сама задача в общий Redis-список, поэтому метрики одинаковы для всех фреймворков; очередь наполняется заранее, поэтому измеряется скорость воркеров, а не продьюсера.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заготовка под вопрос «а что бы вы поменяли для продакшена»: реестр заказов в БД, S3, SSE, outbox.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Закончить на том, что проект собирается и запускается одной командой, а все решения задокументированы в docs/architecture.md по шаблону «решение / почему / альтернативы / где не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97480"/>
          </a:xfrm>
          <a:prstGeom prst="rect">
            <a:avLst/>
          </a:prstGeom>
          <a:solidFill>
            <a:srgbClr val="12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762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7724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report-queue: демонстрация проекта</a:t>
            </a:r>
          </a:p>
          <a:p>
            <a:pPr>
              <a:spcBef>
                <a:spcPts val="1000"/>
              </a:spcBef>
            </a:pPr>
            <a:r>
              <a:rPr sz="1900" b="0">
                <a:solidFill>
                  <a:srgbClr val="C3D4F5"/>
                </a:solidFill>
                <a:latin typeface="Segoe UI"/>
              </a:rPr>
              <a:t>Асинхронная генерация отчётов на Celery / RQ поверх Redis / RabbitMQ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110578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Дисциплина: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Разработка приложений на Python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Докладчик:  </a:t>
            </a:r>
            <a:r>
              <a:rPr sz="1700" b="1">
                <a:solidFill>
                  <a:srgbClr val="1B2738"/>
                </a:solidFill>
                <a:latin typeface="Segoe UI"/>
              </a:rPr>
              <a:t>Кычкин Кирилл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Репозиторий:  </a:t>
            </a:r>
            <a:r>
              <a:rPr sz="1700" b="0">
                <a:solidFill>
                  <a:srgbClr val="1B2738"/>
                </a:solidFill>
                <a:latin typeface="Consolas"/>
              </a:rPr>
              <a:t>github.com/kirillkychkin/report-queue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Дата: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Задача и домен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Заказ отчёта, который нельзя сделать внутри HTTP-запроса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78583"/>
            <a:ext cx="11057839" cy="2302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Домен</a:t>
            </a:r>
            <a:r>
              <a:rPr sz="1650" b="0">
                <a:solidFill>
                  <a:srgbClr val="1B2738"/>
                </a:solidFill>
                <a:latin typeface="Segoe UI"/>
              </a:rPr>
              <a:t>: генерация отчёта по продажам — синтетические данные (pandas) → агрегация по периоду / региону / категории → три артефакта: </a:t>
            </a:r>
            <a:r>
              <a:rPr sz="1550" b="0">
                <a:solidFill>
                  <a:srgbClr val="E8590C"/>
                </a:solidFill>
                <a:latin typeface="Consolas"/>
              </a:rPr>
              <a:t>summary.csv</a:t>
            </a:r>
            <a:r>
              <a:rPr sz="1650" b="0">
                <a:solidFill>
                  <a:srgbClr val="1B2738"/>
                </a:solidFill>
                <a:latin typeface="Segoe UI"/>
              </a:rPr>
              <a:t>, </a:t>
            </a:r>
            <a:r>
              <a:rPr sz="1550" b="0">
                <a:solidFill>
                  <a:srgbClr val="E8590C"/>
                </a:solidFill>
                <a:latin typeface="Consolas"/>
              </a:rPr>
              <a:t>chart.png</a:t>
            </a:r>
            <a:r>
              <a:rPr sz="1650" b="0">
                <a:solidFill>
                  <a:srgbClr val="1B2738"/>
                </a:solidFill>
                <a:latin typeface="Segoe UI"/>
              </a:rPr>
              <a:t> (matplotlib), </a:t>
            </a:r>
            <a:r>
              <a:rPr sz="1550" b="0">
                <a:solidFill>
                  <a:srgbClr val="E8590C"/>
                </a:solidFill>
                <a:latin typeface="Consolas"/>
              </a:rPr>
              <a:t>report.pdf</a:t>
            </a:r>
            <a:r>
              <a:rPr sz="165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Почему домен именно такой</a:t>
            </a:r>
            <a:r>
              <a:rPr sz="1650" b="0">
                <a:solidFill>
                  <a:srgbClr val="1B2738"/>
                </a:solidFill>
                <a:latin typeface="Segoe UI"/>
              </a:rPr>
              <a:t>: работа реально нагружает CPU (0,4–3 с на 10 000–200 000 строк), даёт файлы на выходе и прогресс по шагам — то, ради чего очередь и нужна.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Сценарий</a:t>
            </a:r>
            <a:r>
              <a:rPr sz="1650" b="0">
                <a:solidFill>
                  <a:srgbClr val="1B2738"/>
                </a:solidFill>
                <a:latin typeface="Segoe UI"/>
              </a:rPr>
              <a:t>: </a:t>
            </a:r>
            <a:r>
              <a:rPr sz="1550" b="0">
                <a:solidFill>
                  <a:srgbClr val="E8590C"/>
                </a:solidFill>
                <a:latin typeface="Consolas"/>
              </a:rPr>
              <a:t>POST /reports</a:t>
            </a:r>
            <a:r>
              <a:rPr sz="1650" b="0">
                <a:solidFill>
                  <a:srgbClr val="1B2738"/>
                </a:solidFill>
                <a:latin typeface="Segoe UI"/>
              </a:rPr>
              <a:t> → </a:t>
            </a:r>
            <a:r>
              <a:rPr sz="1550" b="0">
                <a:solidFill>
                  <a:srgbClr val="E8590C"/>
                </a:solidFill>
                <a:latin typeface="Consolas"/>
              </a:rPr>
              <a:t>202 {id}</a:t>
            </a:r>
            <a:r>
              <a:rPr sz="1650" b="0">
                <a:solidFill>
                  <a:srgbClr val="1B2738"/>
                </a:solidFill>
                <a:latin typeface="Segoe UI"/>
              </a:rPr>
              <a:t> → генерация в воркере → </a:t>
            </a:r>
            <a:r>
              <a:rPr sz="1550" b="0">
                <a:solidFill>
                  <a:srgbClr val="E8590C"/>
                </a:solidFill>
                <a:latin typeface="Consolas"/>
              </a:rPr>
              <a:t>GET /reports/{id}</a:t>
            </a:r>
            <a:r>
              <a:rPr sz="1650" b="0">
                <a:solidFill>
                  <a:srgbClr val="1B2738"/>
                </a:solidFill>
                <a:latin typeface="Segoe UI"/>
              </a:rPr>
              <a:t> (статус + прогресс) → </a:t>
            </a:r>
            <a:r>
              <a:rPr sz="1550" b="0">
                <a:solidFill>
                  <a:srgbClr val="E8590C"/>
                </a:solidFill>
                <a:latin typeface="Consolas"/>
              </a:rPr>
              <a:t>GET /reports/{id}/download?format=csv|png|pdf</a:t>
            </a:r>
            <a:r>
              <a:rPr sz="165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Что специально не делал</a:t>
            </a:r>
            <a:r>
              <a:rPr sz="1650" b="0">
                <a:solidFill>
                  <a:srgbClr val="1B2738"/>
                </a:solidFill>
                <a:latin typeface="Segoe UI"/>
              </a:rPr>
              <a:t>: базу данных, авторизацию, вебсокеты — они не относятся к теме и раздули бы демо.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790312"/>
            <a:ext cx="11057839" cy="82296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790312"/>
            <a:ext cx="63500" cy="822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918328"/>
            <a:ext cx="10600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Одна и та же доменная функция </a:t>
            </a:r>
            <a:r>
              <a:rPr sz="1500" b="0">
                <a:solidFill>
                  <a:srgbClr val="E8590C"/>
                </a:solidFill>
                <a:latin typeface="Consolas"/>
              </a:rPr>
              <a:t>generate_report()</a:t>
            </a:r>
            <a:r>
              <a:rPr sz="1600" b="0">
                <a:solidFill>
                  <a:srgbClr val="1B2738"/>
                </a:solidFill>
                <a:latin typeface="Segoe UI"/>
              </a:rPr>
              <a:t> выполняется четырьмя способами: Celery+Redis, Celery+RabbitMQ, RQ, и вообще без фреймворка (голый pika).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Архитектура и стек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Три слоя, ни один не знает о соседях больше необходимого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76044"/>
          <a:ext cx="11057837" cy="1633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671"/>
                <a:gridCol w="1861220"/>
                <a:gridCol w="3503473"/>
                <a:gridCol w="3503473"/>
              </a:tblGrid>
              <a:tr h="40843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Слой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Пакет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Не 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Домен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app/reports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pandas, matplotlib, файлы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очередях, Celery, RQ, HTTP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Адаптеры задач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app/tasks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Celery, RQ, pika, брокерах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HTTP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API и UI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app/api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HTTP, протокол </a:t>
                      </a:r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TaskBackend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какой фреймворк внизу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784092"/>
            <a:ext cx="11057839" cy="2386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800" b="1">
                <a:solidFill>
                  <a:srgbClr val="1B2738"/>
                </a:solidFill>
                <a:latin typeface="Segoe UI"/>
              </a:rPr>
              <a:t>Стек</a:t>
            </a:r>
            <a:r>
              <a:rPr sz="1800" b="0">
                <a:solidFill>
                  <a:srgbClr val="1B2738"/>
                </a:solidFill>
                <a:latin typeface="Segoe UI"/>
              </a:rPr>
              <a:t>: FastAPI + uvicorn, Celery 5.6 (+ Flower, beat), RQ 2.12, Redis 7, RabbitMQ 3.13, pandas 3.0 + matplotlib (backend Agg), pydantic-settings.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800" b="1">
                <a:solidFill>
                  <a:srgbClr val="1B2738"/>
                </a:solidFill>
                <a:latin typeface="Segoe UI"/>
              </a:rPr>
              <a:t>Инфраструктура</a:t>
            </a:r>
            <a:r>
              <a:rPr sz="1800" b="0">
                <a:solidFill>
                  <a:srgbClr val="1B2738"/>
                </a:solidFill>
                <a:latin typeface="Segoe UI"/>
              </a:rPr>
              <a:t>: </a:t>
            </a:r>
            <a:r>
              <a:rPr sz="1700" b="0">
                <a:solidFill>
                  <a:srgbClr val="E8590C"/>
                </a:solidFill>
                <a:latin typeface="Consolas"/>
              </a:rPr>
              <a:t>docker compose up --build</a:t>
            </a:r>
            <a:r>
              <a:rPr sz="1800" b="0">
                <a:solidFill>
                  <a:srgbClr val="1B2738"/>
                </a:solidFill>
                <a:latin typeface="Segoe UI"/>
              </a:rPr>
              <a:t> поднимает redis (брокер), redis-backend (результаты), rabbitmq, api (</a:t>
            </a:r>
            <a:r>
              <a:rPr sz="1700" b="0">
                <a:solidFill>
                  <a:srgbClr val="E8590C"/>
                </a:solidFill>
                <a:latin typeface="Consolas"/>
              </a:rPr>
              <a:t>:8000</a:t>
            </a:r>
            <a:r>
              <a:rPr sz="1800" b="0">
                <a:solidFill>
                  <a:srgbClr val="1B2738"/>
                </a:solidFill>
                <a:latin typeface="Segoe UI"/>
              </a:rPr>
              <a:t>), worker-celery, worker-rq, beat, flower (</a:t>
            </a:r>
            <a:r>
              <a:rPr sz="1700" b="0">
                <a:solidFill>
                  <a:srgbClr val="E8590C"/>
                </a:solidFill>
                <a:latin typeface="Consolas"/>
              </a:rPr>
              <a:t>:5555</a:t>
            </a:r>
            <a:r>
              <a:rPr sz="1800" b="0">
                <a:solidFill>
                  <a:srgbClr val="1B2738"/>
                </a:solidFill>
                <a:latin typeface="Segoe UI"/>
              </a:rPr>
              <a:t>). Один образ на все сервисы приложения.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800" b="1">
                <a:solidFill>
                  <a:srgbClr val="1B2738"/>
                </a:solidFill>
                <a:latin typeface="Segoe UI"/>
              </a:rPr>
              <a:t>Артефакты</a:t>
            </a:r>
            <a:r>
              <a:rPr sz="1800" b="0">
                <a:solidFill>
                  <a:srgbClr val="1B2738"/>
                </a:solidFill>
                <a:latin typeface="Segoe UI"/>
              </a:rPr>
              <a:t> — на общем volume, в result backend только имена файлов: сообщение и результат остаются маленькими.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Ключевые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Каждое — с ценой, которую я готов назвать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51634"/>
          <a:ext cx="11057838" cy="3060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539"/>
                <a:gridCol w="4410711"/>
                <a:gridCol w="4348588"/>
              </a:tblGrid>
              <a:tr h="3581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Почему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Цена / где не работает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Абстракция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TaskBackend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API не зависит от фреймворка → честное сравнение и замена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canvas и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depends_on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 доступны только внутри адаптеров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task_id = report_id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статус по своему id без таблицы «заказ → задача», идемпотентность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Celery не отличает «нет заказа» от «в очереди» (оба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PENDING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54254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acks_late=True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,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prefetch=1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падение воркера не теряет заказ, честное распределение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at-least-once → нужна идемпотентность; медленнее на микрозадачах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Очереди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reports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notifications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CPU-задачи не задерживают быстрые уведомления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больше воркеров и конфигурации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Результат — файлы, не payload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брокер — транспорт, а не хранилище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нужен общий volume, в кластере — S3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Только JSON-сериализация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pickle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 = выполнение произвольного кода при доступе к брокеру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аргументы только простых типов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286146"/>
            <a:ext cx="11057839" cy="754075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405018"/>
            <a:ext cx="10728655" cy="754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68">
                <a:solidFill>
                  <a:srgbClr val="1B2738"/>
                </a:solidFill>
                <a:latin typeface="Consolas"/>
              </a:rPr>
              <a:t>class TaskBackend(Protocol):</a:t>
            </a:r>
          </a:p>
          <a:p>
            <a:r>
              <a:rPr sz="968">
                <a:solidFill>
                  <a:srgbClr val="1B2738"/>
                </a:solidFill>
                <a:latin typeface="Consolas"/>
              </a:rPr>
              <a:t>    def enqueue_report(self, report_id: str, params: ReportParams) -&gt; str: ...</a:t>
            </a:r>
          </a:p>
          <a:p>
            <a:r>
              <a:rPr sz="968">
                <a:solidFill>
                  <a:srgbClr val="1B2738"/>
                </a:solidFill>
                <a:latin typeface="Consolas"/>
              </a:rPr>
              <a:t>    def get_status(self, report_id: str) -&gt; ReportStatus: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Что покажу за 5 минут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Сценарий демонстрации (</a:t>
            </a:r>
            <a:r>
              <a:rPr sz="1400" b="0">
                <a:solidFill>
                  <a:srgbClr val="E8590C"/>
                </a:solidFill>
                <a:latin typeface="Consolas"/>
              </a:rPr>
              <a:t>docs/demo.md</a:t>
            </a:r>
            <a:r>
              <a:rPr sz="1500" b="0">
                <a:solidFill>
                  <a:srgbClr val="5B6B7C"/>
                </a:solidFill>
                <a:latin typeface="Segoe U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66010"/>
            <a:ext cx="11057839" cy="3314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Старт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up -d --build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ps</a:t>
            </a:r>
            <a:r>
              <a:rPr sz="1500" b="0">
                <a:solidFill>
                  <a:srgbClr val="1B2738"/>
                </a:solidFill>
                <a:latin typeface="Segoe UI"/>
              </a:rPr>
              <a:t> (8 сервисов), </a:t>
            </a:r>
            <a:r>
              <a:rPr sz="1400" b="0">
                <a:solidFill>
                  <a:srgbClr val="E8590C"/>
                </a:solidFill>
                <a:latin typeface="Consolas"/>
              </a:rPr>
              <a:t>GET /health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пинг брокера.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Заказ отчёта</a:t>
            </a:r>
            <a:r>
              <a:rPr sz="1500" b="0">
                <a:solidFill>
                  <a:srgbClr val="1B2738"/>
                </a:solidFill>
                <a:latin typeface="Segoe UI"/>
              </a:rPr>
              <a:t> в UI (</a:t>
            </a:r>
            <a:r>
              <a:rPr sz="1400" b="0">
                <a:solidFill>
                  <a:srgbClr val="E8590C"/>
                </a:solidFill>
                <a:latin typeface="Consolas"/>
              </a:rPr>
              <a:t>http://localhost:8000</a:t>
            </a:r>
            <a:r>
              <a:rPr sz="1500" b="0">
                <a:solidFill>
                  <a:srgbClr val="1B2738"/>
                </a:solidFill>
                <a:latin typeface="Segoe UI"/>
              </a:rPr>
              <a:t>): параметры → </a:t>
            </a:r>
            <a:r>
              <a:rPr sz="1400" b="0">
                <a:solidFill>
                  <a:srgbClr val="E8590C"/>
                </a:solidFill>
                <a:latin typeface="Consolas"/>
              </a:rPr>
              <a:t>202 {id}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прогресс 20 → 100 % через polling → скачивание CSV / PNG / PDF.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Распределённая обработка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up -d --scale worker-celery=3</a:t>
            </a:r>
            <a:r>
              <a:rPr sz="1500" b="0">
                <a:solidFill>
                  <a:srgbClr val="1B2738"/>
                </a:solidFill>
                <a:latin typeface="Segoe UI"/>
              </a:rPr>
              <a:t>, пакет из 9 отчётов — во Flower видно, как задачи расходятся по трём воркерам.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Надёжность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NOTIFY_FAILURE_RATE=0.7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в логах видны повторы с экспоненциальным backoff; убитый воркер (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kill</a:t>
            </a:r>
            <a:r>
              <a:rPr sz="1500" b="0">
                <a:solidFill>
                  <a:srgbClr val="1B2738"/>
                </a:solidFill>
                <a:latin typeface="Segoe UI"/>
              </a:rPr>
              <a:t>) не теряет задачу — она уходит другому (</a:t>
            </a:r>
            <a:r>
              <a:rPr sz="1400" b="0">
                <a:solidFill>
                  <a:srgbClr val="E8590C"/>
                </a:solidFill>
                <a:latin typeface="Consolas"/>
              </a:rPr>
              <a:t>acks_late</a:t>
            </a:r>
            <a:r>
              <a:rPr sz="1500" b="0">
                <a:solidFill>
                  <a:srgbClr val="1B2738"/>
                </a:solidFill>
                <a:latin typeface="Segoe UI"/>
              </a:rPr>
              <a:t>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Смена фреймворка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TASK_BACKEND=rq</a:t>
            </a:r>
            <a:r>
              <a:rPr sz="1500" b="0">
                <a:solidFill>
                  <a:srgbClr val="1B2738"/>
                </a:solidFill>
                <a:latin typeface="Segoe UI"/>
              </a:rPr>
              <a:t> в </a:t>
            </a:r>
            <a:r>
              <a:rPr sz="1400" b="0">
                <a:solidFill>
                  <a:srgbClr val="E8590C"/>
                </a:solidFill>
                <a:latin typeface="Consolas"/>
              </a:rPr>
              <a:t>.env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up -d api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тот же UI, тот же результат, другой исполнитель.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Под капотом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python -m app.tasks.raw_amqp produce 6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consume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producer/consumer на голом pika, durable-очередь, ручной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basic_ack</a:t>
            </a:r>
            <a:r>
              <a:rPr sz="1500" b="0">
                <a:solidFill>
                  <a:srgbClr val="1B2738"/>
                </a:solidFill>
                <a:latin typeface="Segoe UI"/>
              </a:rPr>
              <a:t>, DLX.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Эксперимент: что измерял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5 конфигураций × 3 типа задач × 1/2/4 воркера × 3 повтора = 135 прогонов, 89 минут</a:t>
            </a:r>
          </a:p>
        </p:txBody>
      </p:sp>
      <p:pic>
        <p:nvPicPr>
          <p:cNvPr id="5" name="Picture 4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20775"/>
            <a:ext cx="11057839" cy="32051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Результаты и что из них следует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Медиана трёх повторов; пропускная способность — разбор заранее наполненной очереди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09807"/>
          <a:ext cx="11057836" cy="222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90"/>
                <a:gridCol w="1715871"/>
                <a:gridCol w="2192502"/>
                <a:gridCol w="2192502"/>
                <a:gridCol w="1715871"/>
              </a:tblGrid>
              <a:tr h="370880"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noop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cpu_small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Постановка, msg/s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Задержка p50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Celery +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434 → 1497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20 → 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1583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1,8 мс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1B2738"/>
                          </a:solidFill>
                          <a:latin typeface="Segoe UI"/>
                        </a:rPr>
                        <a:t>560 → 1744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20 → 67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2333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1,8 мс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 + confirms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554 → 1649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20 → 68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1B2738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1,8 мс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 (fork)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13 → 45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7 → 24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2366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1B2738"/>
                          </a:solidFill>
                          <a:latin typeface="Segoe UI"/>
                        </a:rPr>
                        <a:t>72 мс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296 → 939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19 → 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2567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3,5 мс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09407"/>
            <a:ext cx="11057839" cy="1527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0">
                <a:solidFill>
                  <a:srgbClr val="1B2738"/>
                </a:solidFill>
                <a:latin typeface="Segoe UI"/>
              </a:rPr>
              <a:t>Накладные расходы очереди — </a:t>
            </a:r>
            <a:r>
              <a:rPr sz="1386" b="1">
                <a:solidFill>
                  <a:srgbClr val="1B2738"/>
                </a:solidFill>
                <a:latin typeface="Segoe UI"/>
              </a:rPr>
              <a:t>1,8 мс</a:t>
            </a:r>
            <a:r>
              <a:rPr sz="1386" b="0">
                <a:solidFill>
                  <a:srgbClr val="1B2738"/>
                </a:solidFill>
                <a:latin typeface="Segoe UI"/>
              </a:rPr>
              <a:t> на задачу у Celery, 3,5 мс у RQ </a:t>
            </a:r>
            <a:r>
              <a:rPr sz="1286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386" b="0">
                <a:solidFill>
                  <a:srgbClr val="1B2738"/>
                </a:solidFill>
                <a:latin typeface="Segoe UI"/>
              </a:rPr>
              <a:t>, 72 мс у RQ с fork.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1">
                <a:solidFill>
                  <a:srgbClr val="1B2738"/>
                </a:solidFill>
                <a:latin typeface="Segoe UI"/>
              </a:rPr>
              <a:t>От ≈50 мс полезной работы фреймворк и брокер не влияют</a:t>
            </a:r>
            <a:r>
              <a:rPr sz="1386" b="0">
                <a:solidFill>
                  <a:srgbClr val="1B2738"/>
                </a:solidFill>
                <a:latin typeface="Segoe UI"/>
              </a:rPr>
              <a:t> на пропускную способность; масштабирование воркерами — ×3,0–4,1.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1">
                <a:solidFill>
                  <a:srgbClr val="1B2738"/>
                </a:solidFill>
                <a:latin typeface="Segoe UI"/>
              </a:rPr>
              <a:t>Преимущество RabbitMQ на постановке куплено отсутствием подтверждения</a:t>
            </a:r>
            <a:r>
              <a:rPr sz="1386" b="0">
                <a:solidFill>
                  <a:srgbClr val="1B2738"/>
                </a:solidFill>
                <a:latin typeface="Segoe UI"/>
              </a:rPr>
              <a:t>: с </a:t>
            </a:r>
            <a:r>
              <a:rPr sz="1286" b="0">
                <a:solidFill>
                  <a:srgbClr val="E8590C"/>
                </a:solidFill>
                <a:latin typeface="Consolas"/>
              </a:rPr>
              <a:t>confirm_publish</a:t>
            </a:r>
            <a:r>
              <a:rPr sz="1386" b="0">
                <a:solidFill>
                  <a:srgbClr val="1B2738"/>
                </a:solidFill>
                <a:latin typeface="Segoe UI"/>
              </a:rPr>
              <a:t> — 210 msg/s против 1583 у Redis.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1">
                <a:solidFill>
                  <a:srgbClr val="1B2738"/>
                </a:solidFill>
                <a:latin typeface="Segoe UI"/>
              </a:rPr>
              <a:t>Первую версию эксперимента пришлось переснять</a:t>
            </a:r>
            <a:r>
              <a:rPr sz="1386" b="0">
                <a:solidFill>
                  <a:srgbClr val="1B2738"/>
                </a:solidFill>
                <a:latin typeface="Segoe UI"/>
              </a:rPr>
              <a:t>: аудит нашёл перекос (один Redis обслуживал брокер, события и результаты), измерение продьюсера вместо воркеров и «задержку», которая была временем ожидания в очереди. Разбор — </a:t>
            </a:r>
            <a:r>
              <a:rPr sz="1286" b="0">
                <a:solidFill>
                  <a:srgbClr val="E8590C"/>
                </a:solidFill>
                <a:latin typeface="Consolas"/>
              </a:rPr>
              <a:t>docs/experiment.md</a:t>
            </a:r>
            <a:r>
              <a:rPr sz="1386" b="0">
                <a:solidFill>
                  <a:srgbClr val="1B2738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Ограничения 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Где это демо честно не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17470"/>
            <a:ext cx="11057839" cy="28117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Нет реестра заказов</a:t>
            </a:r>
            <a:r>
              <a:rPr sz="1500" b="0">
                <a:solidFill>
                  <a:srgbClr val="1B2738"/>
                </a:solidFill>
                <a:latin typeface="Segoe UI"/>
              </a:rPr>
              <a:t>: при </a:t>
            </a:r>
            <a:r>
              <a:rPr sz="1400" b="0">
                <a:solidFill>
                  <a:srgbClr val="E8590C"/>
                </a:solidFill>
                <a:latin typeface="Consolas"/>
              </a:rPr>
              <a:t>TASK_BACKEND=celery</a:t>
            </a:r>
            <a:r>
              <a:rPr sz="1500" b="0">
                <a:solidFill>
                  <a:srgbClr val="1B2738"/>
                </a:solidFill>
                <a:latin typeface="Segoe UI"/>
              </a:rPr>
              <a:t> неизвестный </a:t>
            </a:r>
            <a:r>
              <a:rPr sz="1400" b="0">
                <a:solidFill>
                  <a:srgbClr val="E8590C"/>
                </a:solidFill>
                <a:latin typeface="Consolas"/>
              </a:rPr>
              <a:t>report_id</a:t>
            </a:r>
            <a:r>
              <a:rPr sz="1500" b="0">
                <a:solidFill>
                  <a:srgbClr val="1B2738"/>
                </a:solidFill>
                <a:latin typeface="Segoe UI"/>
              </a:rPr>
              <a:t> отдаёт </a:t>
            </a:r>
            <a:r>
              <a:rPr sz="1400" b="0">
                <a:solidFill>
                  <a:srgbClr val="E8590C"/>
                </a:solidFill>
                <a:latin typeface="Consolas"/>
              </a:rPr>
              <a:t>PENDING</a:t>
            </a:r>
            <a:r>
              <a:rPr sz="1500" b="0">
                <a:solidFill>
                  <a:srgbClr val="1B2738"/>
                </a:solidFill>
                <a:latin typeface="Segoe UI"/>
              </a:rPr>
              <a:t>, а не 404 — сознательно оставлено, чтобы показать различие Celery и RQ.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Polling вместо push</a:t>
            </a:r>
            <a:r>
              <a:rPr sz="1500" b="0">
                <a:solidFill>
                  <a:srgbClr val="1B2738"/>
                </a:solidFill>
                <a:latin typeface="Segoe UI"/>
              </a:rPr>
              <a:t>: лишние запросы; в продакшене — SSE или webhook.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Общий volume вместо объектного хранилища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на нескольких хостах нужен S3/MinIO.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Нет транзакционного outbox</a:t>
            </a:r>
            <a:r>
              <a:rPr sz="1500" b="0">
                <a:solidFill>
                  <a:srgbClr val="1B2738"/>
                </a:solidFill>
                <a:latin typeface="Segoe UI"/>
              </a:rPr>
              <a:t>: «записать в БД и поставить задачу» здесь не атомарно (БД в демо нет вовсе).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Бенчмарк на одном хосте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под Docker Desktop/WSL2: показывает порядки величин и характер масштабирования, а не пределы брокеров.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Celery синхронный</a:t>
            </a:r>
            <a:r>
              <a:rPr sz="1500" b="0">
                <a:solidFill>
                  <a:srgbClr val="1B2738"/>
                </a:solidFill>
                <a:latin typeface="Segoe UI"/>
              </a:rPr>
              <a:t> внутри асинхронного FastAPI: постановка задачи блокирует event loop на доли миллисекунды — при больших объёмах нужен arq/Taskiq или executor.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Что я понял, пока делал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56257"/>
            <a:ext cx="11057839" cy="29466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Идемпотентность — условие корректности</a:t>
            </a:r>
            <a:r>
              <a:rPr sz="1650" b="0">
                <a:solidFill>
                  <a:srgbClr val="1B2738"/>
                </a:solidFill>
                <a:latin typeface="Segoe UI"/>
              </a:rPr>
              <a:t>, а не оптимизация: при </a:t>
            </a:r>
            <a:r>
              <a:rPr sz="1550" b="0">
                <a:solidFill>
                  <a:srgbClr val="E8590C"/>
                </a:solidFill>
                <a:latin typeface="Consolas"/>
              </a:rPr>
              <a:t>acks_late</a:t>
            </a:r>
            <a:r>
              <a:rPr sz="1650" b="0">
                <a:solidFill>
                  <a:srgbClr val="1B2738"/>
                </a:solidFill>
                <a:latin typeface="Segoe UI"/>
              </a:rPr>
              <a:t> повтор задачи гарантированно случится.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Умолчания фреймворков — это архитектурные решения</a:t>
            </a:r>
            <a:r>
              <a:rPr sz="1650" b="0">
                <a:solidFill>
                  <a:srgbClr val="1B2738"/>
                </a:solidFill>
                <a:latin typeface="Segoe UI"/>
              </a:rPr>
              <a:t>: </a:t>
            </a:r>
            <a:r>
              <a:rPr sz="1550" b="0">
                <a:solidFill>
                  <a:srgbClr val="E8590C"/>
                </a:solidFill>
                <a:latin typeface="Consolas"/>
              </a:rPr>
              <a:t>acks_early</a:t>
            </a:r>
            <a:r>
              <a:rPr sz="1650" b="0">
                <a:solidFill>
                  <a:srgbClr val="1B2738"/>
                </a:solidFill>
                <a:latin typeface="Segoe UI"/>
              </a:rPr>
              <a:t> и </a:t>
            </a:r>
            <a:r>
              <a:rPr sz="1550" b="0">
                <a:solidFill>
                  <a:srgbClr val="E8590C"/>
                </a:solidFill>
                <a:latin typeface="Consolas"/>
              </a:rPr>
              <a:t>prefetch=4</a:t>
            </a:r>
            <a:r>
              <a:rPr sz="1650" b="0">
                <a:solidFill>
                  <a:srgbClr val="1B2738"/>
                </a:solidFill>
                <a:latin typeface="Segoe UI"/>
              </a:rPr>
              <a:t> в Celery, fork в RQ, </a:t>
            </a:r>
            <a:r>
              <a:rPr sz="1550" b="0">
                <a:solidFill>
                  <a:srgbClr val="E8590C"/>
                </a:solidFill>
                <a:latin typeface="Consolas"/>
              </a:rPr>
              <a:t>visibility_timeout</a:t>
            </a:r>
            <a:r>
              <a:rPr sz="1650" b="0">
                <a:solidFill>
                  <a:srgbClr val="1B2738"/>
                </a:solidFill>
                <a:latin typeface="Segoe UI"/>
              </a:rPr>
              <a:t> в Redis меняют гарантии и скорость в разы.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Абстракция над фреймворком дёшева</a:t>
            </a:r>
            <a:r>
              <a:rPr sz="1650" b="0">
                <a:solidFill>
                  <a:srgbClr val="1B2738"/>
                </a:solidFill>
                <a:latin typeface="Segoe UI"/>
              </a:rPr>
              <a:t> и окупается ровно до того момента, когда нужны его уникальные возможности.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Измерять, а не верить</a:t>
            </a:r>
            <a:r>
              <a:rPr sz="1650" b="0">
                <a:solidFill>
                  <a:srgbClr val="1B2738"/>
                </a:solidFill>
                <a:latin typeface="Segoe UI"/>
              </a:rPr>
              <a:t>: RQ </a:t>
            </a:r>
            <a:r>
              <a:rPr sz="1550" b="0">
                <a:solidFill>
                  <a:srgbClr val="E8590C"/>
                </a:solidFill>
                <a:latin typeface="Consolas"/>
              </a:rPr>
              <a:t>Worker</a:t>
            </a:r>
            <a:r>
              <a:rPr sz="1650" b="0">
                <a:solidFill>
                  <a:srgbClr val="1B2738"/>
                </a:solidFill>
                <a:latin typeface="Segoe UI"/>
              </a:rPr>
              <a:t> против </a:t>
            </a:r>
            <a:r>
              <a:rPr sz="155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20×; Redis против RabbitMQ на реальных задачах — 0 %.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Брокер — транспорт, а не хранилище</a:t>
            </a:r>
            <a:r>
              <a:rPr sz="1650" b="0">
                <a:solidFill>
                  <a:srgbClr val="1B2738"/>
                </a:solidFill>
                <a:latin typeface="Segoe UI"/>
              </a:rPr>
              <a:t>: маленькие сообщения, результаты в файлах, TTL на всё.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112638"/>
            <a:ext cx="11057839" cy="82296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5112638"/>
            <a:ext cx="63500" cy="822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40654"/>
            <a:ext cx="10600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Репозиторий: </a:t>
            </a:r>
            <a:r>
              <a:rPr sz="1500" b="0">
                <a:solidFill>
                  <a:srgbClr val="E8590C"/>
                </a:solidFill>
                <a:latin typeface="Consolas"/>
              </a:rPr>
              <a:t>github.com/kirillkychkin/report-queue</a:t>
            </a:r>
            <a:r>
              <a:rPr sz="1600" b="0">
                <a:solidFill>
                  <a:srgbClr val="1B2738"/>
                </a:solidFill>
                <a:latin typeface="Segoe UI"/>
              </a:rPr>
              <a:t> — код, </a:t>
            </a:r>
            <a:r>
              <a:rPr sz="1500" b="0">
                <a:solidFill>
                  <a:srgbClr val="E8590C"/>
                </a:solidFill>
                <a:latin typeface="Consolas"/>
              </a:rPr>
              <a:t>docs/</a:t>
            </a:r>
            <a:r>
              <a:rPr sz="1600" b="0">
                <a:solidFill>
                  <a:srgbClr val="1B2738"/>
                </a:solidFill>
                <a:latin typeface="Segoe UI"/>
              </a:rPr>
              <a:t>, </a:t>
            </a:r>
            <a:r>
              <a:rPr sz="1500" b="0">
                <a:solidFill>
                  <a:srgbClr val="E8590C"/>
                </a:solidFill>
                <a:latin typeface="Consolas"/>
              </a:rPr>
              <a:t>bench/results/</a:t>
            </a:r>
            <a:r>
              <a:rPr sz="1600" b="0">
                <a:solidFill>
                  <a:srgbClr val="1B2738"/>
                </a:solidFill>
                <a:latin typeface="Segoe UI"/>
              </a:rPr>
              <a:t> (135 прогонов) и обе презентации.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